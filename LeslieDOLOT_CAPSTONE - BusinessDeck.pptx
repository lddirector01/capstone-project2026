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8" d="100"/>
          <a:sy n="68" d="100"/>
        </p:scale>
        <p:origin x="6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F6304D-1616-44BC-9339-018C8FC6DFED}"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PH"/>
        </a:p>
      </dgm:t>
    </dgm:pt>
    <dgm:pt modelId="{B9B0795E-A25D-4C2D-956B-533F743B0B8F}">
      <dgm:prSet phldrT="[Text]"/>
      <dgm:spPr/>
      <dgm:t>
        <a:bodyPr/>
        <a:lstStyle/>
        <a:p>
          <a:pPr>
            <a:buFont typeface="+mj-lt"/>
            <a:buAutoNum type="alphaUcPeriod"/>
          </a:pPr>
          <a:r>
            <a:rPr lang="en-PH" dirty="0"/>
            <a:t>Cancellation Rate Reduction</a:t>
          </a:r>
        </a:p>
      </dgm:t>
    </dgm:pt>
    <dgm:pt modelId="{DBE59409-8083-4EBD-B8A1-A43C92EE1064}" type="parTrans" cxnId="{8B396BB1-5EB4-4BEC-A0C9-5DE9F2CA25B6}">
      <dgm:prSet/>
      <dgm:spPr/>
      <dgm:t>
        <a:bodyPr/>
        <a:lstStyle/>
        <a:p>
          <a:endParaRPr lang="en-PH"/>
        </a:p>
      </dgm:t>
    </dgm:pt>
    <dgm:pt modelId="{15DD3406-FB7F-4CE3-8B31-B2EE7AD2FCAB}" type="sibTrans" cxnId="{8B396BB1-5EB4-4BEC-A0C9-5DE9F2CA25B6}">
      <dgm:prSet/>
      <dgm:spPr/>
      <dgm:t>
        <a:bodyPr/>
        <a:lstStyle/>
        <a:p>
          <a:endParaRPr lang="en-PH"/>
        </a:p>
      </dgm:t>
    </dgm:pt>
    <dgm:pt modelId="{A8F9DFD5-64D1-4B22-AD5D-8FB698DE505C}">
      <dgm:prSet phldrT="[Text]"/>
      <dgm:spPr/>
      <dgm:t>
        <a:bodyPr/>
        <a:lstStyle/>
        <a:p>
          <a:pPr>
            <a:buFont typeface="+mj-lt"/>
            <a:buAutoNum type="alphaUcPeriod"/>
          </a:pPr>
          <a:r>
            <a:rPr lang="en-PH" dirty="0"/>
            <a:t>Prevented Cancellations</a:t>
          </a:r>
        </a:p>
      </dgm:t>
    </dgm:pt>
    <dgm:pt modelId="{C4FEFE1A-B77B-4FC3-89E9-16E35D813119}" type="parTrans" cxnId="{0F6501E4-5951-4564-85B4-BF173B787717}">
      <dgm:prSet/>
      <dgm:spPr/>
      <dgm:t>
        <a:bodyPr/>
        <a:lstStyle/>
        <a:p>
          <a:endParaRPr lang="en-PH"/>
        </a:p>
      </dgm:t>
    </dgm:pt>
    <dgm:pt modelId="{DB9030BF-BD86-42C4-B78A-5108A9C3AD2A}" type="sibTrans" cxnId="{0F6501E4-5951-4564-85B4-BF173B787717}">
      <dgm:prSet/>
      <dgm:spPr/>
      <dgm:t>
        <a:bodyPr/>
        <a:lstStyle/>
        <a:p>
          <a:endParaRPr lang="en-PH"/>
        </a:p>
      </dgm:t>
    </dgm:pt>
    <dgm:pt modelId="{466DDA2D-EA0A-4E73-9B6A-DC3045D120DE}">
      <dgm:prSet phldrT="[Text]"/>
      <dgm:spPr/>
      <dgm:t>
        <a:bodyPr/>
        <a:lstStyle/>
        <a:p>
          <a:pPr>
            <a:buFont typeface="+mj-lt"/>
            <a:buAutoNum type="alphaUcPeriod"/>
          </a:pPr>
          <a:r>
            <a:rPr lang="en-PH" dirty="0"/>
            <a:t>Revenue Retained</a:t>
          </a:r>
        </a:p>
      </dgm:t>
    </dgm:pt>
    <dgm:pt modelId="{74C597C0-331E-4ACC-9A8D-FF0691EAC3D6}" type="parTrans" cxnId="{4647182D-3876-4C5F-B77C-BEBA479565F3}">
      <dgm:prSet/>
      <dgm:spPr/>
      <dgm:t>
        <a:bodyPr/>
        <a:lstStyle/>
        <a:p>
          <a:endParaRPr lang="en-PH"/>
        </a:p>
      </dgm:t>
    </dgm:pt>
    <dgm:pt modelId="{96F08E17-143B-4178-B26B-41800B8B29F0}" type="sibTrans" cxnId="{4647182D-3876-4C5F-B77C-BEBA479565F3}">
      <dgm:prSet/>
      <dgm:spPr/>
      <dgm:t>
        <a:bodyPr/>
        <a:lstStyle/>
        <a:p>
          <a:endParaRPr lang="en-PH"/>
        </a:p>
      </dgm:t>
    </dgm:pt>
    <dgm:pt modelId="{C58DF60C-8FB3-4C01-9DA3-E078B1938DFB}">
      <dgm:prSet phldrT="[Text]"/>
      <dgm:spPr/>
      <dgm:t>
        <a:bodyPr/>
        <a:lstStyle/>
        <a:p>
          <a:pPr>
            <a:buFont typeface="+mj-lt"/>
            <a:buAutoNum type="alphaUcPeriod"/>
          </a:pPr>
          <a:r>
            <a:rPr lang="en-PH" dirty="0"/>
            <a:t>Intervention Cost vs Savings</a:t>
          </a:r>
        </a:p>
      </dgm:t>
    </dgm:pt>
    <dgm:pt modelId="{0D1283E8-C25A-4EA4-9D82-5F118BFE0F84}" type="parTrans" cxnId="{1FEDE29F-FD53-43A0-B2C0-C78360AA52FD}">
      <dgm:prSet/>
      <dgm:spPr/>
      <dgm:t>
        <a:bodyPr/>
        <a:lstStyle/>
        <a:p>
          <a:endParaRPr lang="en-PH"/>
        </a:p>
      </dgm:t>
    </dgm:pt>
    <dgm:pt modelId="{193926B1-F833-4A6B-B37C-08AB73E8AD82}" type="sibTrans" cxnId="{1FEDE29F-FD53-43A0-B2C0-C78360AA52FD}">
      <dgm:prSet/>
      <dgm:spPr/>
      <dgm:t>
        <a:bodyPr/>
        <a:lstStyle/>
        <a:p>
          <a:endParaRPr lang="en-PH"/>
        </a:p>
      </dgm:t>
    </dgm:pt>
    <dgm:pt modelId="{5C5F2E03-E068-494F-8F88-3567ABE9368D}">
      <dgm:prSet/>
      <dgm:spPr/>
      <dgm:t>
        <a:bodyPr/>
        <a:lstStyle/>
        <a:p>
          <a:pPr>
            <a:buNone/>
          </a:pPr>
          <a:r>
            <a:rPr lang="en-PH" dirty="0"/>
            <a:t>Formula:</a:t>
          </a:r>
        </a:p>
      </dgm:t>
    </dgm:pt>
    <dgm:pt modelId="{E7DC47E3-29B0-47BD-8D77-FB7196C8402F}" type="parTrans" cxnId="{2193E823-4979-4FED-9DA5-A21F8CBBE8E7}">
      <dgm:prSet/>
      <dgm:spPr/>
      <dgm:t>
        <a:bodyPr/>
        <a:lstStyle/>
        <a:p>
          <a:endParaRPr lang="en-PH"/>
        </a:p>
      </dgm:t>
    </dgm:pt>
    <dgm:pt modelId="{85ECF330-B928-4819-8FEC-8A8AB66E5AC6}" type="sibTrans" cxnId="{2193E823-4979-4FED-9DA5-A21F8CBBE8E7}">
      <dgm:prSet/>
      <dgm:spPr/>
      <dgm:t>
        <a:bodyPr/>
        <a:lstStyle/>
        <a:p>
          <a:endParaRPr lang="en-PH"/>
        </a:p>
      </dgm:t>
    </dgm:pt>
    <dgm:pt modelId="{D65FC40B-EF77-4275-B762-13D2D9EAEC49}">
      <dgm:prSet/>
      <dgm:spPr/>
      <dgm:t>
        <a:bodyPr/>
        <a:lstStyle/>
        <a:p>
          <a:pPr>
            <a:buNone/>
          </a:pPr>
          <a:r>
            <a:rPr lang="en-PH"/>
            <a:t>(New Cancellation Rate - Old Rate) / Old Rate</a:t>
          </a:r>
        </a:p>
      </dgm:t>
    </dgm:pt>
    <dgm:pt modelId="{DE08C66C-7FC8-47CB-A81A-121553C2CCA4}" type="parTrans" cxnId="{97189BD3-3629-456A-99AD-3D24D10D570F}">
      <dgm:prSet/>
      <dgm:spPr/>
      <dgm:t>
        <a:bodyPr/>
        <a:lstStyle/>
        <a:p>
          <a:endParaRPr lang="en-PH"/>
        </a:p>
      </dgm:t>
    </dgm:pt>
    <dgm:pt modelId="{48B9D2FD-1BE3-4BFF-8F6E-DA96EA960AC5}" type="sibTrans" cxnId="{97189BD3-3629-456A-99AD-3D24D10D570F}">
      <dgm:prSet/>
      <dgm:spPr/>
      <dgm:t>
        <a:bodyPr/>
        <a:lstStyle/>
        <a:p>
          <a:endParaRPr lang="en-PH"/>
        </a:p>
      </dgm:t>
    </dgm:pt>
    <dgm:pt modelId="{A5D719E1-0F23-4D00-AD09-4D3D5D5581F0}">
      <dgm:prSet/>
      <dgm:spPr/>
      <dgm:t>
        <a:bodyPr/>
        <a:lstStyle/>
        <a:p>
          <a:pPr>
            <a:buNone/>
          </a:pPr>
          <a:r>
            <a:rPr lang="en-PH"/>
            <a:t>Objective: </a:t>
          </a:r>
        </a:p>
      </dgm:t>
    </dgm:pt>
    <dgm:pt modelId="{C09849EA-D6E8-4C4D-A500-BB2C1189F0F9}" type="parTrans" cxnId="{B25393EB-71CC-4B63-8103-22324A78FE0E}">
      <dgm:prSet/>
      <dgm:spPr/>
      <dgm:t>
        <a:bodyPr/>
        <a:lstStyle/>
        <a:p>
          <a:endParaRPr lang="en-PH"/>
        </a:p>
      </dgm:t>
    </dgm:pt>
    <dgm:pt modelId="{6796AEE5-230E-4490-A1A4-B9932DD3A9B7}" type="sibTrans" cxnId="{B25393EB-71CC-4B63-8103-22324A78FE0E}">
      <dgm:prSet/>
      <dgm:spPr/>
      <dgm:t>
        <a:bodyPr/>
        <a:lstStyle/>
        <a:p>
          <a:endParaRPr lang="en-PH"/>
        </a:p>
      </dgm:t>
    </dgm:pt>
    <dgm:pt modelId="{0BF5FE24-92E1-4A35-8F96-EFE4175DD2CF}">
      <dgm:prSet/>
      <dgm:spPr/>
      <dgm:t>
        <a:bodyPr/>
        <a:lstStyle/>
        <a:p>
          <a:pPr>
            <a:buNone/>
          </a:pPr>
          <a:r>
            <a:rPr lang="en-PH"/>
            <a:t>Lower overall cancellations</a:t>
          </a:r>
        </a:p>
      </dgm:t>
    </dgm:pt>
    <dgm:pt modelId="{2543A1D1-DF29-4F6A-ADE6-029D73C41E02}" type="parTrans" cxnId="{4D47BB3C-20B3-4521-9695-3EEF528781BF}">
      <dgm:prSet/>
      <dgm:spPr/>
      <dgm:t>
        <a:bodyPr/>
        <a:lstStyle/>
        <a:p>
          <a:endParaRPr lang="en-PH"/>
        </a:p>
      </dgm:t>
    </dgm:pt>
    <dgm:pt modelId="{8DFF32D1-8B35-448E-8CEB-298AC7495EE8}" type="sibTrans" cxnId="{4D47BB3C-20B3-4521-9695-3EEF528781BF}">
      <dgm:prSet/>
      <dgm:spPr/>
      <dgm:t>
        <a:bodyPr/>
        <a:lstStyle/>
        <a:p>
          <a:endParaRPr lang="en-PH"/>
        </a:p>
      </dgm:t>
    </dgm:pt>
    <dgm:pt modelId="{DB84D853-B860-470F-B8CA-82E38CBEC6BE}">
      <dgm:prSet/>
      <dgm:spPr/>
      <dgm:t>
        <a:bodyPr/>
        <a:lstStyle/>
        <a:p>
          <a:pPr>
            <a:buNone/>
          </a:pPr>
          <a:r>
            <a:rPr lang="en-PH"/>
            <a:t>Formula: </a:t>
          </a:r>
        </a:p>
      </dgm:t>
    </dgm:pt>
    <dgm:pt modelId="{91220CC7-5A35-4DD3-9152-D3F0BDF4FEF3}" type="parTrans" cxnId="{D7FB1D15-897D-4DFE-8534-CC27FF162F09}">
      <dgm:prSet/>
      <dgm:spPr/>
      <dgm:t>
        <a:bodyPr/>
        <a:lstStyle/>
        <a:p>
          <a:endParaRPr lang="en-PH"/>
        </a:p>
      </dgm:t>
    </dgm:pt>
    <dgm:pt modelId="{6DB6450E-5FB7-4846-8CF0-82154105F8F1}" type="sibTrans" cxnId="{D7FB1D15-897D-4DFE-8534-CC27FF162F09}">
      <dgm:prSet/>
      <dgm:spPr/>
      <dgm:t>
        <a:bodyPr/>
        <a:lstStyle/>
        <a:p>
          <a:endParaRPr lang="en-PH"/>
        </a:p>
      </dgm:t>
    </dgm:pt>
    <dgm:pt modelId="{6BF4C55C-8A30-4295-9CB2-B9FBD0C46A93}">
      <dgm:prSet/>
      <dgm:spPr/>
      <dgm:t>
        <a:bodyPr/>
        <a:lstStyle/>
        <a:p>
          <a:pPr>
            <a:buNone/>
          </a:pPr>
          <a:r>
            <a:rPr lang="en-PH"/>
            <a:t>Prevented Cancellations = total orders saved due to intervention</a:t>
          </a:r>
        </a:p>
      </dgm:t>
    </dgm:pt>
    <dgm:pt modelId="{00B0FA79-79D3-4BEF-95D5-37A92705B822}" type="parTrans" cxnId="{B42691D7-6955-4217-96D9-77F406FC40C2}">
      <dgm:prSet/>
      <dgm:spPr/>
      <dgm:t>
        <a:bodyPr/>
        <a:lstStyle/>
        <a:p>
          <a:endParaRPr lang="en-PH"/>
        </a:p>
      </dgm:t>
    </dgm:pt>
    <dgm:pt modelId="{2504C63A-CE01-4DAD-9F74-00785F031880}" type="sibTrans" cxnId="{B42691D7-6955-4217-96D9-77F406FC40C2}">
      <dgm:prSet/>
      <dgm:spPr/>
      <dgm:t>
        <a:bodyPr/>
        <a:lstStyle/>
        <a:p>
          <a:endParaRPr lang="en-PH"/>
        </a:p>
      </dgm:t>
    </dgm:pt>
    <dgm:pt modelId="{F13EEFB3-ADC3-431D-857D-F195A16516C6}">
      <dgm:prSet/>
      <dgm:spPr/>
      <dgm:t>
        <a:bodyPr/>
        <a:lstStyle/>
        <a:p>
          <a:pPr>
            <a:buNone/>
          </a:pPr>
          <a:r>
            <a:rPr lang="en-PH"/>
            <a:t>Objective:</a:t>
          </a:r>
        </a:p>
      </dgm:t>
    </dgm:pt>
    <dgm:pt modelId="{E54F9807-5BBE-4F2A-9C55-AD25E8F57E28}" type="parTrans" cxnId="{5F0FC5C3-742C-41E0-AA69-D536F0358444}">
      <dgm:prSet/>
      <dgm:spPr/>
      <dgm:t>
        <a:bodyPr/>
        <a:lstStyle/>
        <a:p>
          <a:endParaRPr lang="en-PH"/>
        </a:p>
      </dgm:t>
    </dgm:pt>
    <dgm:pt modelId="{AEF521BC-E026-4BDE-8EAE-DB24690CEFAC}" type="sibTrans" cxnId="{5F0FC5C3-742C-41E0-AA69-D536F0358444}">
      <dgm:prSet/>
      <dgm:spPr/>
      <dgm:t>
        <a:bodyPr/>
        <a:lstStyle/>
        <a:p>
          <a:endParaRPr lang="en-PH"/>
        </a:p>
      </dgm:t>
    </dgm:pt>
    <dgm:pt modelId="{DD6B99D7-1B34-4D58-AE28-C7F6D48C94AF}">
      <dgm:prSet/>
      <dgm:spPr/>
      <dgm:t>
        <a:bodyPr/>
        <a:lstStyle/>
        <a:p>
          <a:pPr>
            <a:buNone/>
          </a:pPr>
          <a:r>
            <a:rPr lang="en-PH"/>
            <a:t>Reduce the % of cancelled orders in the same time frame as the previous data.</a:t>
          </a:r>
        </a:p>
      </dgm:t>
    </dgm:pt>
    <dgm:pt modelId="{326810F2-9F3B-4431-BAF2-732D1578649A}" type="parTrans" cxnId="{3BD4FCF3-9E7C-43D8-88BD-406D9F64FD62}">
      <dgm:prSet/>
      <dgm:spPr/>
      <dgm:t>
        <a:bodyPr/>
        <a:lstStyle/>
        <a:p>
          <a:endParaRPr lang="en-PH"/>
        </a:p>
      </dgm:t>
    </dgm:pt>
    <dgm:pt modelId="{2C64A52F-33BF-4012-B251-4580AB2961D3}" type="sibTrans" cxnId="{3BD4FCF3-9E7C-43D8-88BD-406D9F64FD62}">
      <dgm:prSet/>
      <dgm:spPr/>
      <dgm:t>
        <a:bodyPr/>
        <a:lstStyle/>
        <a:p>
          <a:endParaRPr lang="en-PH"/>
        </a:p>
      </dgm:t>
    </dgm:pt>
    <dgm:pt modelId="{354173CE-019B-42BD-9AE9-57185806EBEB}">
      <dgm:prSet/>
      <dgm:spPr/>
      <dgm:t>
        <a:bodyPr/>
        <a:lstStyle/>
        <a:p>
          <a:pPr>
            <a:buNone/>
          </a:pPr>
          <a:r>
            <a:rPr lang="en-PH"/>
            <a:t>Formula:</a:t>
          </a:r>
        </a:p>
      </dgm:t>
    </dgm:pt>
    <dgm:pt modelId="{559278F7-DE30-44F8-B416-D62948EAB97D}" type="parTrans" cxnId="{BBE3BEAF-8DFD-459A-9C01-853E776DFCE9}">
      <dgm:prSet/>
      <dgm:spPr/>
      <dgm:t>
        <a:bodyPr/>
        <a:lstStyle/>
        <a:p>
          <a:endParaRPr lang="en-PH"/>
        </a:p>
      </dgm:t>
    </dgm:pt>
    <dgm:pt modelId="{FF3E09AA-0BB7-403C-B189-028396A94561}" type="sibTrans" cxnId="{BBE3BEAF-8DFD-459A-9C01-853E776DFCE9}">
      <dgm:prSet/>
      <dgm:spPr/>
      <dgm:t>
        <a:bodyPr/>
        <a:lstStyle/>
        <a:p>
          <a:endParaRPr lang="en-PH"/>
        </a:p>
      </dgm:t>
    </dgm:pt>
    <dgm:pt modelId="{B2B26BD7-0167-43DD-90A9-E6AD1869EF8C}">
      <dgm:prSet/>
      <dgm:spPr/>
      <dgm:t>
        <a:bodyPr/>
        <a:lstStyle/>
        <a:p>
          <a:pPr>
            <a:buNone/>
          </a:pPr>
          <a:r>
            <a:rPr lang="en-PH"/>
            <a:t>Revenue Retained = ∑(value of orders where cancellation is prevented)</a:t>
          </a:r>
        </a:p>
      </dgm:t>
    </dgm:pt>
    <dgm:pt modelId="{D6419227-E480-426B-B587-35A810E1B06F}" type="parTrans" cxnId="{55C3F4F6-F5D2-400F-8F55-0B9C2EE42C96}">
      <dgm:prSet/>
      <dgm:spPr/>
      <dgm:t>
        <a:bodyPr/>
        <a:lstStyle/>
        <a:p>
          <a:endParaRPr lang="en-PH"/>
        </a:p>
      </dgm:t>
    </dgm:pt>
    <dgm:pt modelId="{B1B4C8DC-D7D1-4316-AC1B-204D03DE7E27}" type="sibTrans" cxnId="{55C3F4F6-F5D2-400F-8F55-0B9C2EE42C96}">
      <dgm:prSet/>
      <dgm:spPr/>
      <dgm:t>
        <a:bodyPr/>
        <a:lstStyle/>
        <a:p>
          <a:endParaRPr lang="en-PH"/>
        </a:p>
      </dgm:t>
    </dgm:pt>
    <dgm:pt modelId="{F21C5C1E-DA81-4746-BA73-23823D97DC3E}">
      <dgm:prSet/>
      <dgm:spPr/>
      <dgm:t>
        <a:bodyPr/>
        <a:lstStyle/>
        <a:p>
          <a:pPr>
            <a:buNone/>
          </a:pPr>
          <a:r>
            <a:rPr lang="en-PH"/>
            <a:t>Objective: </a:t>
          </a:r>
        </a:p>
      </dgm:t>
    </dgm:pt>
    <dgm:pt modelId="{69D76A10-0458-46E6-ABC2-EDDC39F45A97}" type="parTrans" cxnId="{E567F8C0-51D7-4D0B-94C7-0E204CED2575}">
      <dgm:prSet/>
      <dgm:spPr/>
      <dgm:t>
        <a:bodyPr/>
        <a:lstStyle/>
        <a:p>
          <a:endParaRPr lang="en-PH"/>
        </a:p>
      </dgm:t>
    </dgm:pt>
    <dgm:pt modelId="{9BFFB766-EFC2-40C4-866D-339C8F6A1490}" type="sibTrans" cxnId="{E567F8C0-51D7-4D0B-94C7-0E204CED2575}">
      <dgm:prSet/>
      <dgm:spPr/>
      <dgm:t>
        <a:bodyPr/>
        <a:lstStyle/>
        <a:p>
          <a:endParaRPr lang="en-PH"/>
        </a:p>
      </dgm:t>
    </dgm:pt>
    <dgm:pt modelId="{0CB8ABBB-DE64-4FD8-9D18-5405E45F5029}">
      <dgm:prSet/>
      <dgm:spPr/>
      <dgm:t>
        <a:bodyPr/>
        <a:lstStyle/>
        <a:p>
          <a:pPr>
            <a:buNone/>
          </a:pPr>
          <a:r>
            <a:rPr lang="en-PH"/>
            <a:t>The higher the value, then more revenue is generated.</a:t>
          </a:r>
        </a:p>
      </dgm:t>
    </dgm:pt>
    <dgm:pt modelId="{2F4D9077-5C21-4AC9-9C47-C52A5F07D0D9}" type="parTrans" cxnId="{9AB84038-CE6A-4E40-9D7C-B0090933F822}">
      <dgm:prSet/>
      <dgm:spPr/>
      <dgm:t>
        <a:bodyPr/>
        <a:lstStyle/>
        <a:p>
          <a:endParaRPr lang="en-PH"/>
        </a:p>
      </dgm:t>
    </dgm:pt>
    <dgm:pt modelId="{26266438-14DA-4A0D-9214-86F0983FABEB}" type="sibTrans" cxnId="{9AB84038-CE6A-4E40-9D7C-B0090933F822}">
      <dgm:prSet/>
      <dgm:spPr/>
      <dgm:t>
        <a:bodyPr/>
        <a:lstStyle/>
        <a:p>
          <a:endParaRPr lang="en-PH"/>
        </a:p>
      </dgm:t>
    </dgm:pt>
    <dgm:pt modelId="{72175A56-F33A-4B23-B471-FB96C0C51DCA}">
      <dgm:prSet/>
      <dgm:spPr/>
      <dgm:t>
        <a:bodyPr/>
        <a:lstStyle/>
        <a:p>
          <a:pPr>
            <a:buNone/>
          </a:pPr>
          <a:r>
            <a:rPr lang="en-PH"/>
            <a:t>Formula: </a:t>
          </a:r>
        </a:p>
      </dgm:t>
    </dgm:pt>
    <dgm:pt modelId="{88CA35BD-00AC-45B5-996A-26F62E9127E6}" type="parTrans" cxnId="{79DD15BD-D5B1-4583-B7E0-71713F48DC3B}">
      <dgm:prSet/>
      <dgm:spPr/>
      <dgm:t>
        <a:bodyPr/>
        <a:lstStyle/>
        <a:p>
          <a:endParaRPr lang="en-PH"/>
        </a:p>
      </dgm:t>
    </dgm:pt>
    <dgm:pt modelId="{7DA0D6F5-8E95-4A23-8755-B944F5F6F37D}" type="sibTrans" cxnId="{79DD15BD-D5B1-4583-B7E0-71713F48DC3B}">
      <dgm:prSet/>
      <dgm:spPr/>
      <dgm:t>
        <a:bodyPr/>
        <a:lstStyle/>
        <a:p>
          <a:endParaRPr lang="en-PH"/>
        </a:p>
      </dgm:t>
    </dgm:pt>
    <dgm:pt modelId="{C61F636E-5B6F-4BE5-AD3C-920642248C09}">
      <dgm:prSet/>
      <dgm:spPr/>
      <dgm:t>
        <a:bodyPr/>
        <a:lstStyle/>
        <a:p>
          <a:pPr>
            <a:buNone/>
          </a:pPr>
          <a:r>
            <a:rPr lang="en-PH"/>
            <a:t>Net Benefit = Revenue Retained - Cost of Intervention</a:t>
          </a:r>
        </a:p>
      </dgm:t>
    </dgm:pt>
    <dgm:pt modelId="{9D06400E-D9CB-4924-9328-9D6D2A4B58A8}" type="parTrans" cxnId="{260A9886-E5E3-45DE-997F-A1DE72DECD70}">
      <dgm:prSet/>
      <dgm:spPr/>
      <dgm:t>
        <a:bodyPr/>
        <a:lstStyle/>
        <a:p>
          <a:endParaRPr lang="en-PH"/>
        </a:p>
      </dgm:t>
    </dgm:pt>
    <dgm:pt modelId="{A28B07C4-5EC3-49E2-AD18-CCD626927C68}" type="sibTrans" cxnId="{260A9886-E5E3-45DE-997F-A1DE72DECD70}">
      <dgm:prSet/>
      <dgm:spPr/>
      <dgm:t>
        <a:bodyPr/>
        <a:lstStyle/>
        <a:p>
          <a:endParaRPr lang="en-PH"/>
        </a:p>
      </dgm:t>
    </dgm:pt>
    <dgm:pt modelId="{43FE56BD-79FB-474E-95D4-23FF7673292B}">
      <dgm:prSet/>
      <dgm:spPr/>
      <dgm:t>
        <a:bodyPr/>
        <a:lstStyle/>
        <a:p>
          <a:pPr>
            <a:buNone/>
          </a:pPr>
          <a:r>
            <a:rPr lang="en-PH"/>
            <a:t>Objective:</a:t>
          </a:r>
        </a:p>
      </dgm:t>
    </dgm:pt>
    <dgm:pt modelId="{44BD2AF2-D464-4B3D-8966-75B30B1E812C}" type="parTrans" cxnId="{ACE239C2-13F1-4F85-991D-5A708B7CD5DB}">
      <dgm:prSet/>
      <dgm:spPr/>
      <dgm:t>
        <a:bodyPr/>
        <a:lstStyle/>
        <a:p>
          <a:endParaRPr lang="en-PH"/>
        </a:p>
      </dgm:t>
    </dgm:pt>
    <dgm:pt modelId="{BB7D6F15-4598-48B8-954A-F5C282DA4878}" type="sibTrans" cxnId="{ACE239C2-13F1-4F85-991D-5A708B7CD5DB}">
      <dgm:prSet/>
      <dgm:spPr/>
      <dgm:t>
        <a:bodyPr/>
        <a:lstStyle/>
        <a:p>
          <a:endParaRPr lang="en-PH"/>
        </a:p>
      </dgm:t>
    </dgm:pt>
    <dgm:pt modelId="{D764E766-AD9A-4B69-A8CA-1E369A6AEA94}">
      <dgm:prSet/>
      <dgm:spPr/>
      <dgm:t>
        <a:bodyPr/>
        <a:lstStyle/>
        <a:p>
          <a:pPr>
            <a:buNone/>
          </a:pPr>
          <a:r>
            <a:rPr lang="en-PH"/>
            <a:t>The Net Benefit must be a positive value.</a:t>
          </a:r>
        </a:p>
      </dgm:t>
    </dgm:pt>
    <dgm:pt modelId="{1757CBE4-C34D-4318-B269-23815C8EA669}" type="parTrans" cxnId="{A034EBB7-AD47-45AE-8AC4-15E167138302}">
      <dgm:prSet/>
      <dgm:spPr/>
      <dgm:t>
        <a:bodyPr/>
        <a:lstStyle/>
        <a:p>
          <a:endParaRPr lang="en-PH"/>
        </a:p>
      </dgm:t>
    </dgm:pt>
    <dgm:pt modelId="{7D72A3AE-AB05-46A2-9FDF-CFCD9B454606}" type="sibTrans" cxnId="{A034EBB7-AD47-45AE-8AC4-15E167138302}">
      <dgm:prSet/>
      <dgm:spPr/>
      <dgm:t>
        <a:bodyPr/>
        <a:lstStyle/>
        <a:p>
          <a:endParaRPr lang="en-PH"/>
        </a:p>
      </dgm:t>
    </dgm:pt>
    <dgm:pt modelId="{D7FFFD32-9AE2-44BF-9094-BF49DA89F224}" type="pres">
      <dgm:prSet presAssocID="{51F6304D-1616-44BC-9339-018C8FC6DFED}" presName="diagram" presStyleCnt="0">
        <dgm:presLayoutVars>
          <dgm:dir/>
          <dgm:resizeHandles val="exact"/>
        </dgm:presLayoutVars>
      </dgm:prSet>
      <dgm:spPr/>
    </dgm:pt>
    <dgm:pt modelId="{9BB743D6-B28F-4EF9-98CB-4628BAA2EE7E}" type="pres">
      <dgm:prSet presAssocID="{B9B0795E-A25D-4C2D-956B-533F743B0B8F}" presName="node" presStyleLbl="node1" presStyleIdx="0" presStyleCnt="4">
        <dgm:presLayoutVars>
          <dgm:bulletEnabled val="1"/>
        </dgm:presLayoutVars>
      </dgm:prSet>
      <dgm:spPr/>
    </dgm:pt>
    <dgm:pt modelId="{864A065E-E2DC-4291-ACB9-BE4FA6F05EA1}" type="pres">
      <dgm:prSet presAssocID="{15DD3406-FB7F-4CE3-8B31-B2EE7AD2FCAB}" presName="sibTrans" presStyleCnt="0"/>
      <dgm:spPr/>
    </dgm:pt>
    <dgm:pt modelId="{F9A483D0-0267-4AF4-A378-219DD6347699}" type="pres">
      <dgm:prSet presAssocID="{A8F9DFD5-64D1-4B22-AD5D-8FB698DE505C}" presName="node" presStyleLbl="node1" presStyleIdx="1" presStyleCnt="4">
        <dgm:presLayoutVars>
          <dgm:bulletEnabled val="1"/>
        </dgm:presLayoutVars>
      </dgm:prSet>
      <dgm:spPr/>
    </dgm:pt>
    <dgm:pt modelId="{C15F8990-8F59-495B-9648-47216E17CA31}" type="pres">
      <dgm:prSet presAssocID="{DB9030BF-BD86-42C4-B78A-5108A9C3AD2A}" presName="sibTrans" presStyleCnt="0"/>
      <dgm:spPr/>
    </dgm:pt>
    <dgm:pt modelId="{819ADFE8-4E20-4CC9-B044-B70AD12144AA}" type="pres">
      <dgm:prSet presAssocID="{466DDA2D-EA0A-4E73-9B6A-DC3045D120DE}" presName="node" presStyleLbl="node1" presStyleIdx="2" presStyleCnt="4">
        <dgm:presLayoutVars>
          <dgm:bulletEnabled val="1"/>
        </dgm:presLayoutVars>
      </dgm:prSet>
      <dgm:spPr/>
    </dgm:pt>
    <dgm:pt modelId="{6DAF1AD8-1205-48A4-BCC9-F67F39C5F803}" type="pres">
      <dgm:prSet presAssocID="{96F08E17-143B-4178-B26B-41800B8B29F0}" presName="sibTrans" presStyleCnt="0"/>
      <dgm:spPr/>
    </dgm:pt>
    <dgm:pt modelId="{DCE313B3-35B9-4FFA-AB0C-4FCF0DD9EF7B}" type="pres">
      <dgm:prSet presAssocID="{C58DF60C-8FB3-4C01-9DA3-E078B1938DFB}" presName="node" presStyleLbl="node1" presStyleIdx="3" presStyleCnt="4">
        <dgm:presLayoutVars>
          <dgm:bulletEnabled val="1"/>
        </dgm:presLayoutVars>
      </dgm:prSet>
      <dgm:spPr/>
    </dgm:pt>
  </dgm:ptLst>
  <dgm:cxnLst>
    <dgm:cxn modelId="{4A8E9813-86BA-42BE-B862-7CE675423BEA}" type="presOf" srcId="{DB84D853-B860-470F-B8CA-82E38CBEC6BE}" destId="{F9A483D0-0267-4AF4-A378-219DD6347699}" srcOrd="0" destOrd="1" presId="urn:microsoft.com/office/officeart/2005/8/layout/default"/>
    <dgm:cxn modelId="{D7FB1D15-897D-4DFE-8534-CC27FF162F09}" srcId="{A8F9DFD5-64D1-4B22-AD5D-8FB698DE505C}" destId="{DB84D853-B860-470F-B8CA-82E38CBEC6BE}" srcOrd="0" destOrd="0" parTransId="{91220CC7-5A35-4DD3-9152-D3F0BDF4FEF3}" sibTransId="{6DB6450E-5FB7-4846-8CF0-82154105F8F1}"/>
    <dgm:cxn modelId="{1040E716-D7E5-44D5-99B3-2BEC7C0548A7}" type="presOf" srcId="{D764E766-AD9A-4B69-A8CA-1E369A6AEA94}" destId="{DCE313B3-35B9-4FFA-AB0C-4FCF0DD9EF7B}" srcOrd="0" destOrd="4" presId="urn:microsoft.com/office/officeart/2005/8/layout/default"/>
    <dgm:cxn modelId="{71EA7918-86FA-4D61-B5B0-3D310FF3E565}" type="presOf" srcId="{466DDA2D-EA0A-4E73-9B6A-DC3045D120DE}" destId="{819ADFE8-4E20-4CC9-B044-B70AD12144AA}" srcOrd="0" destOrd="0" presId="urn:microsoft.com/office/officeart/2005/8/layout/default"/>
    <dgm:cxn modelId="{2193E823-4979-4FED-9DA5-A21F8CBBE8E7}" srcId="{B9B0795E-A25D-4C2D-956B-533F743B0B8F}" destId="{5C5F2E03-E068-494F-8F88-3567ABE9368D}" srcOrd="0" destOrd="0" parTransId="{E7DC47E3-29B0-47BD-8D77-FB7196C8402F}" sibTransId="{85ECF330-B928-4819-8FEC-8A8AB66E5AC6}"/>
    <dgm:cxn modelId="{4647182D-3876-4C5F-B77C-BEBA479565F3}" srcId="{51F6304D-1616-44BC-9339-018C8FC6DFED}" destId="{466DDA2D-EA0A-4E73-9B6A-DC3045D120DE}" srcOrd="2" destOrd="0" parTransId="{74C597C0-331E-4ACC-9A8D-FF0691EAC3D6}" sibTransId="{96F08E17-143B-4178-B26B-41800B8B29F0}"/>
    <dgm:cxn modelId="{639F772D-829B-4C48-BC9E-DC71CDD00186}" type="presOf" srcId="{B9B0795E-A25D-4C2D-956B-533F743B0B8F}" destId="{9BB743D6-B28F-4EF9-98CB-4628BAA2EE7E}" srcOrd="0" destOrd="0" presId="urn:microsoft.com/office/officeart/2005/8/layout/default"/>
    <dgm:cxn modelId="{9AB84038-CE6A-4E40-9D7C-B0090933F822}" srcId="{466DDA2D-EA0A-4E73-9B6A-DC3045D120DE}" destId="{0CB8ABBB-DE64-4FD8-9D18-5405E45F5029}" srcOrd="3" destOrd="0" parTransId="{2F4D9077-5C21-4AC9-9C47-C52A5F07D0D9}" sibTransId="{26266438-14DA-4A0D-9214-86F0983FABEB}"/>
    <dgm:cxn modelId="{5EC53039-3068-4C39-9A03-612F60AA432E}" type="presOf" srcId="{43FE56BD-79FB-474E-95D4-23FF7673292B}" destId="{DCE313B3-35B9-4FFA-AB0C-4FCF0DD9EF7B}" srcOrd="0" destOrd="3" presId="urn:microsoft.com/office/officeart/2005/8/layout/default"/>
    <dgm:cxn modelId="{4D47BB3C-20B3-4521-9695-3EEF528781BF}" srcId="{B9B0795E-A25D-4C2D-956B-533F743B0B8F}" destId="{0BF5FE24-92E1-4A35-8F96-EFE4175DD2CF}" srcOrd="3" destOrd="0" parTransId="{2543A1D1-DF29-4F6A-ADE6-029D73C41E02}" sibTransId="{8DFF32D1-8B35-448E-8CEB-298AC7495EE8}"/>
    <dgm:cxn modelId="{B2DD326A-C2E7-4A25-9AA8-8576DB5B388D}" type="presOf" srcId="{F21C5C1E-DA81-4746-BA73-23823D97DC3E}" destId="{819ADFE8-4E20-4CC9-B044-B70AD12144AA}" srcOrd="0" destOrd="3" presId="urn:microsoft.com/office/officeart/2005/8/layout/default"/>
    <dgm:cxn modelId="{F281B254-B8DC-4ACE-9F9A-BA225D2CA344}" type="presOf" srcId="{0BF5FE24-92E1-4A35-8F96-EFE4175DD2CF}" destId="{9BB743D6-B28F-4EF9-98CB-4628BAA2EE7E}" srcOrd="0" destOrd="4" presId="urn:microsoft.com/office/officeart/2005/8/layout/default"/>
    <dgm:cxn modelId="{B8D5FA7A-D899-4C6C-B063-BEE351E3FE87}" type="presOf" srcId="{354173CE-019B-42BD-9AE9-57185806EBEB}" destId="{819ADFE8-4E20-4CC9-B044-B70AD12144AA}" srcOrd="0" destOrd="1" presId="urn:microsoft.com/office/officeart/2005/8/layout/default"/>
    <dgm:cxn modelId="{63821281-1F13-45DE-9347-C659F1DE43B1}" type="presOf" srcId="{A5D719E1-0F23-4D00-AD09-4D3D5D5581F0}" destId="{9BB743D6-B28F-4EF9-98CB-4628BAA2EE7E}" srcOrd="0" destOrd="3" presId="urn:microsoft.com/office/officeart/2005/8/layout/default"/>
    <dgm:cxn modelId="{7BC7DC82-DC1C-4D7D-A2CA-2781B2B7DFBC}" type="presOf" srcId="{72175A56-F33A-4B23-B471-FB96C0C51DCA}" destId="{DCE313B3-35B9-4FFA-AB0C-4FCF0DD9EF7B}" srcOrd="0" destOrd="1" presId="urn:microsoft.com/office/officeart/2005/8/layout/default"/>
    <dgm:cxn modelId="{B4B27D86-CD3D-4D02-895C-B037670B2A8E}" type="presOf" srcId="{B2B26BD7-0167-43DD-90A9-E6AD1869EF8C}" destId="{819ADFE8-4E20-4CC9-B044-B70AD12144AA}" srcOrd="0" destOrd="2" presId="urn:microsoft.com/office/officeart/2005/8/layout/default"/>
    <dgm:cxn modelId="{260A9886-E5E3-45DE-997F-A1DE72DECD70}" srcId="{C58DF60C-8FB3-4C01-9DA3-E078B1938DFB}" destId="{C61F636E-5B6F-4BE5-AD3C-920642248C09}" srcOrd="1" destOrd="0" parTransId="{9D06400E-D9CB-4924-9328-9D6D2A4B58A8}" sibTransId="{A28B07C4-5EC3-49E2-AD18-CCD626927C68}"/>
    <dgm:cxn modelId="{C0C20A90-CDE0-4008-93B8-29530AD62375}" type="presOf" srcId="{51F6304D-1616-44BC-9339-018C8FC6DFED}" destId="{D7FFFD32-9AE2-44BF-9094-BF49DA89F224}" srcOrd="0" destOrd="0" presId="urn:microsoft.com/office/officeart/2005/8/layout/default"/>
    <dgm:cxn modelId="{DDF44191-7888-4DAD-9C13-AA7E4A144F96}" type="presOf" srcId="{C61F636E-5B6F-4BE5-AD3C-920642248C09}" destId="{DCE313B3-35B9-4FFA-AB0C-4FCF0DD9EF7B}" srcOrd="0" destOrd="2" presId="urn:microsoft.com/office/officeart/2005/8/layout/default"/>
    <dgm:cxn modelId="{2A8C8198-AE83-4F3F-9B5B-076D6B0FEF4E}" type="presOf" srcId="{A8F9DFD5-64D1-4B22-AD5D-8FB698DE505C}" destId="{F9A483D0-0267-4AF4-A378-219DD6347699}" srcOrd="0" destOrd="0" presId="urn:microsoft.com/office/officeart/2005/8/layout/default"/>
    <dgm:cxn modelId="{1B52729F-7029-41BE-84E8-34906168BCA6}" type="presOf" srcId="{D65FC40B-EF77-4275-B762-13D2D9EAEC49}" destId="{9BB743D6-B28F-4EF9-98CB-4628BAA2EE7E}" srcOrd="0" destOrd="2" presId="urn:microsoft.com/office/officeart/2005/8/layout/default"/>
    <dgm:cxn modelId="{1FEDE29F-FD53-43A0-B2C0-C78360AA52FD}" srcId="{51F6304D-1616-44BC-9339-018C8FC6DFED}" destId="{C58DF60C-8FB3-4C01-9DA3-E078B1938DFB}" srcOrd="3" destOrd="0" parTransId="{0D1283E8-C25A-4EA4-9D82-5F118BFE0F84}" sibTransId="{193926B1-F833-4A6B-B37C-08AB73E8AD82}"/>
    <dgm:cxn modelId="{5660C4A3-A209-4E33-B335-D3E7A6C874B9}" type="presOf" srcId="{6BF4C55C-8A30-4295-9CB2-B9FBD0C46A93}" destId="{F9A483D0-0267-4AF4-A378-219DD6347699}" srcOrd="0" destOrd="2" presId="urn:microsoft.com/office/officeart/2005/8/layout/default"/>
    <dgm:cxn modelId="{9CE924A4-023B-46C1-B78D-6192FA49E32E}" type="presOf" srcId="{0CB8ABBB-DE64-4FD8-9D18-5405E45F5029}" destId="{819ADFE8-4E20-4CC9-B044-B70AD12144AA}" srcOrd="0" destOrd="4" presId="urn:microsoft.com/office/officeart/2005/8/layout/default"/>
    <dgm:cxn modelId="{BBE3BEAF-8DFD-459A-9C01-853E776DFCE9}" srcId="{466DDA2D-EA0A-4E73-9B6A-DC3045D120DE}" destId="{354173CE-019B-42BD-9AE9-57185806EBEB}" srcOrd="0" destOrd="0" parTransId="{559278F7-DE30-44F8-B416-D62948EAB97D}" sibTransId="{FF3E09AA-0BB7-403C-B189-028396A94561}"/>
    <dgm:cxn modelId="{8B396BB1-5EB4-4BEC-A0C9-5DE9F2CA25B6}" srcId="{51F6304D-1616-44BC-9339-018C8FC6DFED}" destId="{B9B0795E-A25D-4C2D-956B-533F743B0B8F}" srcOrd="0" destOrd="0" parTransId="{DBE59409-8083-4EBD-B8A1-A43C92EE1064}" sibTransId="{15DD3406-FB7F-4CE3-8B31-B2EE7AD2FCAB}"/>
    <dgm:cxn modelId="{B9CA41B7-E265-42F5-BA25-2C1036E2F7BA}" type="presOf" srcId="{F13EEFB3-ADC3-431D-857D-F195A16516C6}" destId="{F9A483D0-0267-4AF4-A378-219DD6347699}" srcOrd="0" destOrd="3" presId="urn:microsoft.com/office/officeart/2005/8/layout/default"/>
    <dgm:cxn modelId="{A034EBB7-AD47-45AE-8AC4-15E167138302}" srcId="{C58DF60C-8FB3-4C01-9DA3-E078B1938DFB}" destId="{D764E766-AD9A-4B69-A8CA-1E369A6AEA94}" srcOrd="3" destOrd="0" parTransId="{1757CBE4-C34D-4318-B269-23815C8EA669}" sibTransId="{7D72A3AE-AB05-46A2-9FDF-CFCD9B454606}"/>
    <dgm:cxn modelId="{3F874CB9-EDA2-4BD6-AABC-DCE96161A838}" type="presOf" srcId="{5C5F2E03-E068-494F-8F88-3567ABE9368D}" destId="{9BB743D6-B28F-4EF9-98CB-4628BAA2EE7E}" srcOrd="0" destOrd="1" presId="urn:microsoft.com/office/officeart/2005/8/layout/default"/>
    <dgm:cxn modelId="{79DD15BD-D5B1-4583-B7E0-71713F48DC3B}" srcId="{C58DF60C-8FB3-4C01-9DA3-E078B1938DFB}" destId="{72175A56-F33A-4B23-B471-FB96C0C51DCA}" srcOrd="0" destOrd="0" parTransId="{88CA35BD-00AC-45B5-996A-26F62E9127E6}" sibTransId="{7DA0D6F5-8E95-4A23-8755-B944F5F6F37D}"/>
    <dgm:cxn modelId="{B63382BE-BE68-4DD1-B27D-BA732CFDA7BB}" type="presOf" srcId="{DD6B99D7-1B34-4D58-AE28-C7F6D48C94AF}" destId="{F9A483D0-0267-4AF4-A378-219DD6347699}" srcOrd="0" destOrd="4" presId="urn:microsoft.com/office/officeart/2005/8/layout/default"/>
    <dgm:cxn modelId="{E567F8C0-51D7-4D0B-94C7-0E204CED2575}" srcId="{466DDA2D-EA0A-4E73-9B6A-DC3045D120DE}" destId="{F21C5C1E-DA81-4746-BA73-23823D97DC3E}" srcOrd="2" destOrd="0" parTransId="{69D76A10-0458-46E6-ABC2-EDDC39F45A97}" sibTransId="{9BFFB766-EFC2-40C4-866D-339C8F6A1490}"/>
    <dgm:cxn modelId="{ACE239C2-13F1-4F85-991D-5A708B7CD5DB}" srcId="{C58DF60C-8FB3-4C01-9DA3-E078B1938DFB}" destId="{43FE56BD-79FB-474E-95D4-23FF7673292B}" srcOrd="2" destOrd="0" parTransId="{44BD2AF2-D464-4B3D-8966-75B30B1E812C}" sibTransId="{BB7D6F15-4598-48B8-954A-F5C282DA4878}"/>
    <dgm:cxn modelId="{5F0FC5C3-742C-41E0-AA69-D536F0358444}" srcId="{A8F9DFD5-64D1-4B22-AD5D-8FB698DE505C}" destId="{F13EEFB3-ADC3-431D-857D-F195A16516C6}" srcOrd="2" destOrd="0" parTransId="{E54F9807-5BBE-4F2A-9C55-AD25E8F57E28}" sibTransId="{AEF521BC-E026-4BDE-8EAE-DB24690CEFAC}"/>
    <dgm:cxn modelId="{97189BD3-3629-456A-99AD-3D24D10D570F}" srcId="{B9B0795E-A25D-4C2D-956B-533F743B0B8F}" destId="{D65FC40B-EF77-4275-B762-13D2D9EAEC49}" srcOrd="1" destOrd="0" parTransId="{DE08C66C-7FC8-47CB-A81A-121553C2CCA4}" sibTransId="{48B9D2FD-1BE3-4BFF-8F6E-DA96EA960AC5}"/>
    <dgm:cxn modelId="{B42691D7-6955-4217-96D9-77F406FC40C2}" srcId="{A8F9DFD5-64D1-4B22-AD5D-8FB698DE505C}" destId="{6BF4C55C-8A30-4295-9CB2-B9FBD0C46A93}" srcOrd="1" destOrd="0" parTransId="{00B0FA79-79D3-4BEF-95D5-37A92705B822}" sibTransId="{2504C63A-CE01-4DAD-9F74-00785F031880}"/>
    <dgm:cxn modelId="{0F6501E4-5951-4564-85B4-BF173B787717}" srcId="{51F6304D-1616-44BC-9339-018C8FC6DFED}" destId="{A8F9DFD5-64D1-4B22-AD5D-8FB698DE505C}" srcOrd="1" destOrd="0" parTransId="{C4FEFE1A-B77B-4FC3-89E9-16E35D813119}" sibTransId="{DB9030BF-BD86-42C4-B78A-5108A9C3AD2A}"/>
    <dgm:cxn modelId="{B25393EB-71CC-4B63-8103-22324A78FE0E}" srcId="{B9B0795E-A25D-4C2D-956B-533F743B0B8F}" destId="{A5D719E1-0F23-4D00-AD09-4D3D5D5581F0}" srcOrd="2" destOrd="0" parTransId="{C09849EA-D6E8-4C4D-A500-BB2C1189F0F9}" sibTransId="{6796AEE5-230E-4490-A1A4-B9932DD3A9B7}"/>
    <dgm:cxn modelId="{F90898ED-A2CC-41C9-8213-AD63A1504C22}" type="presOf" srcId="{C58DF60C-8FB3-4C01-9DA3-E078B1938DFB}" destId="{DCE313B3-35B9-4FFA-AB0C-4FCF0DD9EF7B}" srcOrd="0" destOrd="0" presId="urn:microsoft.com/office/officeart/2005/8/layout/default"/>
    <dgm:cxn modelId="{3BD4FCF3-9E7C-43D8-88BD-406D9F64FD62}" srcId="{A8F9DFD5-64D1-4B22-AD5D-8FB698DE505C}" destId="{DD6B99D7-1B34-4D58-AE28-C7F6D48C94AF}" srcOrd="3" destOrd="0" parTransId="{326810F2-9F3B-4431-BAF2-732D1578649A}" sibTransId="{2C64A52F-33BF-4012-B251-4580AB2961D3}"/>
    <dgm:cxn modelId="{55C3F4F6-F5D2-400F-8F55-0B9C2EE42C96}" srcId="{466DDA2D-EA0A-4E73-9B6A-DC3045D120DE}" destId="{B2B26BD7-0167-43DD-90A9-E6AD1869EF8C}" srcOrd="1" destOrd="0" parTransId="{D6419227-E480-426B-B587-35A810E1B06F}" sibTransId="{B1B4C8DC-D7D1-4316-AC1B-204D03DE7E27}"/>
    <dgm:cxn modelId="{8CDC7B71-2018-4BDE-8C3C-5EAABEAEF046}" type="presParOf" srcId="{D7FFFD32-9AE2-44BF-9094-BF49DA89F224}" destId="{9BB743D6-B28F-4EF9-98CB-4628BAA2EE7E}" srcOrd="0" destOrd="0" presId="urn:microsoft.com/office/officeart/2005/8/layout/default"/>
    <dgm:cxn modelId="{F45240A9-81F3-4751-B249-6407E0701EF1}" type="presParOf" srcId="{D7FFFD32-9AE2-44BF-9094-BF49DA89F224}" destId="{864A065E-E2DC-4291-ACB9-BE4FA6F05EA1}" srcOrd="1" destOrd="0" presId="urn:microsoft.com/office/officeart/2005/8/layout/default"/>
    <dgm:cxn modelId="{C686F188-1528-43EC-9B27-82D90342C245}" type="presParOf" srcId="{D7FFFD32-9AE2-44BF-9094-BF49DA89F224}" destId="{F9A483D0-0267-4AF4-A378-219DD6347699}" srcOrd="2" destOrd="0" presId="urn:microsoft.com/office/officeart/2005/8/layout/default"/>
    <dgm:cxn modelId="{2E62BD0F-0511-4B2C-A321-6087484851B6}" type="presParOf" srcId="{D7FFFD32-9AE2-44BF-9094-BF49DA89F224}" destId="{C15F8990-8F59-495B-9648-47216E17CA31}" srcOrd="3" destOrd="0" presId="urn:microsoft.com/office/officeart/2005/8/layout/default"/>
    <dgm:cxn modelId="{02769E1F-EE3C-4984-B2D0-D45A0927B845}" type="presParOf" srcId="{D7FFFD32-9AE2-44BF-9094-BF49DA89F224}" destId="{819ADFE8-4E20-4CC9-B044-B70AD12144AA}" srcOrd="4" destOrd="0" presId="urn:microsoft.com/office/officeart/2005/8/layout/default"/>
    <dgm:cxn modelId="{2C8777E4-AD6D-4019-9D45-36BA7976201B}" type="presParOf" srcId="{D7FFFD32-9AE2-44BF-9094-BF49DA89F224}" destId="{6DAF1AD8-1205-48A4-BCC9-F67F39C5F803}" srcOrd="5" destOrd="0" presId="urn:microsoft.com/office/officeart/2005/8/layout/default"/>
    <dgm:cxn modelId="{BED6043D-D505-45D0-843B-08386797102E}" type="presParOf" srcId="{D7FFFD32-9AE2-44BF-9094-BF49DA89F224}" destId="{DCE313B3-35B9-4FFA-AB0C-4FCF0DD9EF7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B743D6-B28F-4EF9-98CB-4628BAA2EE7E}">
      <dsp:nvSpPr>
        <dsp:cNvPr id="0" name=""/>
        <dsp:cNvSpPr/>
      </dsp:nvSpPr>
      <dsp:spPr>
        <a:xfrm>
          <a:off x="1022975" y="1724"/>
          <a:ext cx="3013924" cy="1808354"/>
        </a:xfrm>
        <a:prstGeom prst="rect">
          <a:avLst/>
        </a:prstGeom>
        <a:solidFill>
          <a:schemeClr val="accent1">
            <a:shade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mj-lt"/>
            <a:buNone/>
          </a:pPr>
          <a:r>
            <a:rPr lang="en-PH" sz="1700" kern="1200" dirty="0"/>
            <a:t>Cancellation Rate Reduction</a:t>
          </a:r>
        </a:p>
        <a:p>
          <a:pPr marL="114300" lvl="1" indent="-114300" algn="l" defTabSz="577850">
            <a:lnSpc>
              <a:spcPct val="90000"/>
            </a:lnSpc>
            <a:spcBef>
              <a:spcPct val="0"/>
            </a:spcBef>
            <a:spcAft>
              <a:spcPct val="15000"/>
            </a:spcAft>
            <a:buNone/>
          </a:pPr>
          <a:r>
            <a:rPr lang="en-PH" sz="1300" kern="1200" dirty="0"/>
            <a:t>Formula:</a:t>
          </a:r>
        </a:p>
        <a:p>
          <a:pPr marL="114300" lvl="1" indent="-114300" algn="l" defTabSz="577850">
            <a:lnSpc>
              <a:spcPct val="90000"/>
            </a:lnSpc>
            <a:spcBef>
              <a:spcPct val="0"/>
            </a:spcBef>
            <a:spcAft>
              <a:spcPct val="15000"/>
            </a:spcAft>
            <a:buNone/>
          </a:pPr>
          <a:r>
            <a:rPr lang="en-PH" sz="1300" kern="1200"/>
            <a:t>(New Cancellation Rate - Old Rate) / Old Rate</a:t>
          </a:r>
        </a:p>
        <a:p>
          <a:pPr marL="114300" lvl="1" indent="-114300" algn="l" defTabSz="577850">
            <a:lnSpc>
              <a:spcPct val="90000"/>
            </a:lnSpc>
            <a:spcBef>
              <a:spcPct val="0"/>
            </a:spcBef>
            <a:spcAft>
              <a:spcPct val="15000"/>
            </a:spcAft>
            <a:buNone/>
          </a:pPr>
          <a:r>
            <a:rPr lang="en-PH" sz="1300" kern="1200"/>
            <a:t>Objective: </a:t>
          </a:r>
        </a:p>
        <a:p>
          <a:pPr marL="114300" lvl="1" indent="-114300" algn="l" defTabSz="577850">
            <a:lnSpc>
              <a:spcPct val="90000"/>
            </a:lnSpc>
            <a:spcBef>
              <a:spcPct val="0"/>
            </a:spcBef>
            <a:spcAft>
              <a:spcPct val="15000"/>
            </a:spcAft>
            <a:buNone/>
          </a:pPr>
          <a:r>
            <a:rPr lang="en-PH" sz="1300" kern="1200"/>
            <a:t>Lower overall cancellations</a:t>
          </a:r>
        </a:p>
      </dsp:txBody>
      <dsp:txXfrm>
        <a:off x="1022975" y="1724"/>
        <a:ext cx="3013924" cy="1808354"/>
      </dsp:txXfrm>
    </dsp:sp>
    <dsp:sp modelId="{F9A483D0-0267-4AF4-A378-219DD6347699}">
      <dsp:nvSpPr>
        <dsp:cNvPr id="0" name=""/>
        <dsp:cNvSpPr/>
      </dsp:nvSpPr>
      <dsp:spPr>
        <a:xfrm>
          <a:off x="4338292" y="1724"/>
          <a:ext cx="3013924" cy="1808354"/>
        </a:xfrm>
        <a:prstGeom prst="rect">
          <a:avLst/>
        </a:prstGeom>
        <a:solidFill>
          <a:schemeClr val="accent1">
            <a:shade val="50000"/>
            <a:hueOff val="287885"/>
            <a:satOff val="-1458"/>
            <a:lumOff val="2204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mj-lt"/>
            <a:buNone/>
          </a:pPr>
          <a:r>
            <a:rPr lang="en-PH" sz="1700" kern="1200" dirty="0"/>
            <a:t>Prevented Cancellations</a:t>
          </a:r>
        </a:p>
        <a:p>
          <a:pPr marL="114300" lvl="1" indent="-114300" algn="l" defTabSz="577850">
            <a:lnSpc>
              <a:spcPct val="90000"/>
            </a:lnSpc>
            <a:spcBef>
              <a:spcPct val="0"/>
            </a:spcBef>
            <a:spcAft>
              <a:spcPct val="15000"/>
            </a:spcAft>
            <a:buNone/>
          </a:pPr>
          <a:r>
            <a:rPr lang="en-PH" sz="1300" kern="1200"/>
            <a:t>Formula: </a:t>
          </a:r>
        </a:p>
        <a:p>
          <a:pPr marL="114300" lvl="1" indent="-114300" algn="l" defTabSz="577850">
            <a:lnSpc>
              <a:spcPct val="90000"/>
            </a:lnSpc>
            <a:spcBef>
              <a:spcPct val="0"/>
            </a:spcBef>
            <a:spcAft>
              <a:spcPct val="15000"/>
            </a:spcAft>
            <a:buNone/>
          </a:pPr>
          <a:r>
            <a:rPr lang="en-PH" sz="1300" kern="1200"/>
            <a:t>Prevented Cancellations = total orders saved due to intervention</a:t>
          </a:r>
        </a:p>
        <a:p>
          <a:pPr marL="114300" lvl="1" indent="-114300" algn="l" defTabSz="577850">
            <a:lnSpc>
              <a:spcPct val="90000"/>
            </a:lnSpc>
            <a:spcBef>
              <a:spcPct val="0"/>
            </a:spcBef>
            <a:spcAft>
              <a:spcPct val="15000"/>
            </a:spcAft>
            <a:buNone/>
          </a:pPr>
          <a:r>
            <a:rPr lang="en-PH" sz="1300" kern="1200"/>
            <a:t>Objective:</a:t>
          </a:r>
        </a:p>
        <a:p>
          <a:pPr marL="114300" lvl="1" indent="-114300" algn="l" defTabSz="577850">
            <a:lnSpc>
              <a:spcPct val="90000"/>
            </a:lnSpc>
            <a:spcBef>
              <a:spcPct val="0"/>
            </a:spcBef>
            <a:spcAft>
              <a:spcPct val="15000"/>
            </a:spcAft>
            <a:buNone/>
          </a:pPr>
          <a:r>
            <a:rPr lang="en-PH" sz="1300" kern="1200"/>
            <a:t>Reduce the % of cancelled orders in the same time frame as the previous data.</a:t>
          </a:r>
        </a:p>
      </dsp:txBody>
      <dsp:txXfrm>
        <a:off x="4338292" y="1724"/>
        <a:ext cx="3013924" cy="1808354"/>
      </dsp:txXfrm>
    </dsp:sp>
    <dsp:sp modelId="{819ADFE8-4E20-4CC9-B044-B70AD12144AA}">
      <dsp:nvSpPr>
        <dsp:cNvPr id="0" name=""/>
        <dsp:cNvSpPr/>
      </dsp:nvSpPr>
      <dsp:spPr>
        <a:xfrm>
          <a:off x="1022975" y="2111471"/>
          <a:ext cx="3013924" cy="1808354"/>
        </a:xfrm>
        <a:prstGeom prst="rect">
          <a:avLst/>
        </a:prstGeom>
        <a:solidFill>
          <a:schemeClr val="accent1">
            <a:shade val="50000"/>
            <a:hueOff val="575770"/>
            <a:satOff val="-2916"/>
            <a:lumOff val="440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mj-lt"/>
            <a:buNone/>
          </a:pPr>
          <a:r>
            <a:rPr lang="en-PH" sz="1700" kern="1200" dirty="0"/>
            <a:t>Revenue Retained</a:t>
          </a:r>
        </a:p>
        <a:p>
          <a:pPr marL="114300" lvl="1" indent="-114300" algn="l" defTabSz="577850">
            <a:lnSpc>
              <a:spcPct val="90000"/>
            </a:lnSpc>
            <a:spcBef>
              <a:spcPct val="0"/>
            </a:spcBef>
            <a:spcAft>
              <a:spcPct val="15000"/>
            </a:spcAft>
            <a:buNone/>
          </a:pPr>
          <a:r>
            <a:rPr lang="en-PH" sz="1300" kern="1200"/>
            <a:t>Formula:</a:t>
          </a:r>
        </a:p>
        <a:p>
          <a:pPr marL="114300" lvl="1" indent="-114300" algn="l" defTabSz="577850">
            <a:lnSpc>
              <a:spcPct val="90000"/>
            </a:lnSpc>
            <a:spcBef>
              <a:spcPct val="0"/>
            </a:spcBef>
            <a:spcAft>
              <a:spcPct val="15000"/>
            </a:spcAft>
            <a:buNone/>
          </a:pPr>
          <a:r>
            <a:rPr lang="en-PH" sz="1300" kern="1200"/>
            <a:t>Revenue Retained = ∑(value of orders where cancellation is prevented)</a:t>
          </a:r>
        </a:p>
        <a:p>
          <a:pPr marL="114300" lvl="1" indent="-114300" algn="l" defTabSz="577850">
            <a:lnSpc>
              <a:spcPct val="90000"/>
            </a:lnSpc>
            <a:spcBef>
              <a:spcPct val="0"/>
            </a:spcBef>
            <a:spcAft>
              <a:spcPct val="15000"/>
            </a:spcAft>
            <a:buNone/>
          </a:pPr>
          <a:r>
            <a:rPr lang="en-PH" sz="1300" kern="1200"/>
            <a:t>Objective: </a:t>
          </a:r>
        </a:p>
        <a:p>
          <a:pPr marL="114300" lvl="1" indent="-114300" algn="l" defTabSz="577850">
            <a:lnSpc>
              <a:spcPct val="90000"/>
            </a:lnSpc>
            <a:spcBef>
              <a:spcPct val="0"/>
            </a:spcBef>
            <a:spcAft>
              <a:spcPct val="15000"/>
            </a:spcAft>
            <a:buNone/>
          </a:pPr>
          <a:r>
            <a:rPr lang="en-PH" sz="1300" kern="1200"/>
            <a:t>The higher the value, then more revenue is generated.</a:t>
          </a:r>
        </a:p>
      </dsp:txBody>
      <dsp:txXfrm>
        <a:off x="1022975" y="2111471"/>
        <a:ext cx="3013924" cy="1808354"/>
      </dsp:txXfrm>
    </dsp:sp>
    <dsp:sp modelId="{DCE313B3-35B9-4FFA-AB0C-4FCF0DD9EF7B}">
      <dsp:nvSpPr>
        <dsp:cNvPr id="0" name=""/>
        <dsp:cNvSpPr/>
      </dsp:nvSpPr>
      <dsp:spPr>
        <a:xfrm>
          <a:off x="4338292" y="2111471"/>
          <a:ext cx="3013924" cy="1808354"/>
        </a:xfrm>
        <a:prstGeom prst="rect">
          <a:avLst/>
        </a:prstGeom>
        <a:solidFill>
          <a:schemeClr val="accent1">
            <a:shade val="50000"/>
            <a:hueOff val="287885"/>
            <a:satOff val="-1458"/>
            <a:lumOff val="2204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mj-lt"/>
            <a:buNone/>
          </a:pPr>
          <a:r>
            <a:rPr lang="en-PH" sz="1700" kern="1200" dirty="0"/>
            <a:t>Intervention Cost vs Savings</a:t>
          </a:r>
        </a:p>
        <a:p>
          <a:pPr marL="114300" lvl="1" indent="-114300" algn="l" defTabSz="577850">
            <a:lnSpc>
              <a:spcPct val="90000"/>
            </a:lnSpc>
            <a:spcBef>
              <a:spcPct val="0"/>
            </a:spcBef>
            <a:spcAft>
              <a:spcPct val="15000"/>
            </a:spcAft>
            <a:buNone/>
          </a:pPr>
          <a:r>
            <a:rPr lang="en-PH" sz="1300" kern="1200"/>
            <a:t>Formula: </a:t>
          </a:r>
        </a:p>
        <a:p>
          <a:pPr marL="114300" lvl="1" indent="-114300" algn="l" defTabSz="577850">
            <a:lnSpc>
              <a:spcPct val="90000"/>
            </a:lnSpc>
            <a:spcBef>
              <a:spcPct val="0"/>
            </a:spcBef>
            <a:spcAft>
              <a:spcPct val="15000"/>
            </a:spcAft>
            <a:buNone/>
          </a:pPr>
          <a:r>
            <a:rPr lang="en-PH" sz="1300" kern="1200"/>
            <a:t>Net Benefit = Revenue Retained - Cost of Intervention</a:t>
          </a:r>
        </a:p>
        <a:p>
          <a:pPr marL="114300" lvl="1" indent="-114300" algn="l" defTabSz="577850">
            <a:lnSpc>
              <a:spcPct val="90000"/>
            </a:lnSpc>
            <a:spcBef>
              <a:spcPct val="0"/>
            </a:spcBef>
            <a:spcAft>
              <a:spcPct val="15000"/>
            </a:spcAft>
            <a:buNone/>
          </a:pPr>
          <a:r>
            <a:rPr lang="en-PH" sz="1300" kern="1200"/>
            <a:t>Objective:</a:t>
          </a:r>
        </a:p>
        <a:p>
          <a:pPr marL="114300" lvl="1" indent="-114300" algn="l" defTabSz="577850">
            <a:lnSpc>
              <a:spcPct val="90000"/>
            </a:lnSpc>
            <a:spcBef>
              <a:spcPct val="0"/>
            </a:spcBef>
            <a:spcAft>
              <a:spcPct val="15000"/>
            </a:spcAft>
            <a:buNone/>
          </a:pPr>
          <a:r>
            <a:rPr lang="en-PH" sz="1300" kern="1200"/>
            <a:t>The Net Benefit must be a positive value.</a:t>
          </a:r>
        </a:p>
      </dsp:txBody>
      <dsp:txXfrm>
        <a:off x="4338292" y="2111471"/>
        <a:ext cx="3013924" cy="180835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AB37CF-3D18-49CD-837D-258C6F410F7A}" type="datetimeFigureOut">
              <a:rPr lang="en-PH" smtClean="0"/>
              <a:t>3/30/2026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1F90102-521B-4E16-954D-5AAE3E07B822}" type="slidenum">
              <a:rPr lang="en-PH" smtClean="0"/>
              <a:t>‹#›</a:t>
            </a:fld>
            <a:endParaRPr lang="en-P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787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AB37CF-3D18-49CD-837D-258C6F410F7A}" type="datetimeFigureOut">
              <a:rPr lang="en-PH" smtClean="0"/>
              <a:t>3/30/2026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2914682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AB37CF-3D18-49CD-837D-258C6F410F7A}" type="datetimeFigureOut">
              <a:rPr lang="en-PH" smtClean="0"/>
              <a:t>3/30/2026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1F90102-521B-4E16-954D-5AAE3E07B822}" type="slidenum">
              <a:rPr lang="en-PH" smtClean="0"/>
              <a:t>‹#›</a:t>
            </a:fld>
            <a:endParaRPr lang="en-P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7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AB37CF-3D18-49CD-837D-258C6F410F7A}" type="datetimeFigureOut">
              <a:rPr lang="en-PH" smtClean="0"/>
              <a:t>3/30/2026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24104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AB37CF-3D18-49CD-837D-258C6F410F7A}" type="datetimeFigureOut">
              <a:rPr lang="en-PH" smtClean="0"/>
              <a:t>3/30/2026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725224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AB37CF-3D18-49CD-837D-258C6F410F7A}" type="datetimeFigureOut">
              <a:rPr lang="en-PH" smtClean="0"/>
              <a:t>3/30/2026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4152806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9AB37CF-3D18-49CD-837D-258C6F410F7A}" type="datetimeFigureOut">
              <a:rPr lang="en-PH" smtClean="0"/>
              <a:t>3/30/2026</a:t>
            </a:fld>
            <a:endParaRPr lang="en-PH"/>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H"/>
          </a:p>
        </p:txBody>
      </p:sp>
      <p:sp>
        <p:nvSpPr>
          <p:cNvPr id="9" name="Slide Number Placeholder 8"/>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2312783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9AB37CF-3D18-49CD-837D-258C6F410F7A}" type="datetimeFigureOut">
              <a:rPr lang="en-PH" smtClean="0"/>
              <a:t>3/30/2026</a:t>
            </a:fld>
            <a:endParaRPr lang="en-PH"/>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H"/>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F90102-521B-4E16-954D-5AAE3E07B822}" type="slidenum">
              <a:rPr lang="en-PH" smtClean="0"/>
              <a:t>‹#›</a:t>
            </a:fld>
            <a:endParaRPr lang="en-PH"/>
          </a:p>
        </p:txBody>
      </p:sp>
    </p:spTree>
    <p:extLst>
      <p:ext uri="{BB962C8B-B14F-4D97-AF65-F5344CB8AC3E}">
        <p14:creationId xmlns:p14="http://schemas.microsoft.com/office/powerpoint/2010/main" val="3266243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AB37CF-3D18-49CD-837D-258C6F410F7A}" type="datetimeFigureOut">
              <a:rPr lang="en-PH" smtClean="0"/>
              <a:t>3/30/2026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3238370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AB37CF-3D18-49CD-837D-258C6F410F7A}" type="datetimeFigureOut">
              <a:rPr lang="en-PH" smtClean="0"/>
              <a:t>3/30/2026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3814336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AB37CF-3D18-49CD-837D-258C6F410F7A}" type="datetimeFigureOut">
              <a:rPr lang="en-PH" smtClean="0"/>
              <a:t>3/30/2026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1F90102-521B-4E16-954D-5AAE3E07B822}" type="slidenum">
              <a:rPr lang="en-PH" smtClean="0"/>
              <a:t>‹#›</a:t>
            </a:fld>
            <a:endParaRPr lang="en-PH"/>
          </a:p>
        </p:txBody>
      </p:sp>
    </p:spTree>
    <p:extLst>
      <p:ext uri="{BB962C8B-B14F-4D97-AF65-F5344CB8AC3E}">
        <p14:creationId xmlns:p14="http://schemas.microsoft.com/office/powerpoint/2010/main" val="235778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9AB37CF-3D18-49CD-837D-258C6F410F7A}" type="datetimeFigureOut">
              <a:rPr lang="en-PH" smtClean="0"/>
              <a:t>3/30/2026</a:t>
            </a:fld>
            <a:endParaRPr lang="en-PH"/>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H"/>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F90102-521B-4E16-954D-5AAE3E07B822}" type="slidenum">
              <a:rPr lang="en-PH" smtClean="0"/>
              <a:t>‹#›</a:t>
            </a:fld>
            <a:endParaRPr lang="en-PH"/>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37853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08C21-8960-C7BD-7D37-01DEC6B431FD}"/>
              </a:ext>
            </a:extLst>
          </p:cNvPr>
          <p:cNvSpPr>
            <a:spLocks noGrp="1"/>
          </p:cNvSpPr>
          <p:nvPr>
            <p:ph type="ctrTitle"/>
          </p:nvPr>
        </p:nvSpPr>
        <p:spPr/>
        <p:txBody>
          <a:bodyPr/>
          <a:lstStyle/>
          <a:p>
            <a:r>
              <a:rPr lang="en-US" dirty="0"/>
              <a:t>CAPSTONE PROJECT</a:t>
            </a:r>
            <a:endParaRPr lang="en-PH" dirty="0"/>
          </a:p>
        </p:txBody>
      </p:sp>
      <p:sp>
        <p:nvSpPr>
          <p:cNvPr id="3" name="Subtitle 2">
            <a:extLst>
              <a:ext uri="{FF2B5EF4-FFF2-40B4-BE49-F238E27FC236}">
                <a16:creationId xmlns:a16="http://schemas.microsoft.com/office/drawing/2014/main" id="{F7B01904-3606-0CA2-4471-CB708276F49E}"/>
              </a:ext>
            </a:extLst>
          </p:cNvPr>
          <p:cNvSpPr>
            <a:spLocks noGrp="1"/>
          </p:cNvSpPr>
          <p:nvPr>
            <p:ph type="subTitle" idx="1"/>
          </p:nvPr>
        </p:nvSpPr>
        <p:spPr/>
        <p:txBody>
          <a:bodyPr/>
          <a:lstStyle/>
          <a:p>
            <a:r>
              <a:rPr lang="en-US" dirty="0"/>
              <a:t>Submitted by: Leslie Anne D. Dolot</a:t>
            </a:r>
          </a:p>
          <a:p>
            <a:r>
              <a:rPr lang="en-US" dirty="0"/>
              <a:t>30 MARCH 2026</a:t>
            </a:r>
            <a:endParaRPr lang="en-PH" dirty="0"/>
          </a:p>
        </p:txBody>
      </p:sp>
    </p:spTree>
    <p:extLst>
      <p:ext uri="{BB962C8B-B14F-4D97-AF65-F5344CB8AC3E}">
        <p14:creationId xmlns:p14="http://schemas.microsoft.com/office/powerpoint/2010/main" val="723533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740A0E-B944-54F0-1BC7-37CFB1BA43A2}"/>
              </a:ext>
            </a:extLst>
          </p:cNvPr>
          <p:cNvPicPr>
            <a:picLocks noChangeAspect="1"/>
          </p:cNvPicPr>
          <p:nvPr/>
        </p:nvPicPr>
        <p:blipFill>
          <a:blip r:embed="rId2"/>
          <a:stretch>
            <a:fillRect/>
          </a:stretch>
        </p:blipFill>
        <p:spPr>
          <a:xfrm>
            <a:off x="2756672" y="2135981"/>
            <a:ext cx="6678656" cy="4722019"/>
          </a:xfrm>
          <a:prstGeom prst="rect">
            <a:avLst/>
          </a:prstGeom>
        </p:spPr>
      </p:pic>
      <p:sp>
        <p:nvSpPr>
          <p:cNvPr id="2" name="Title 1">
            <a:extLst>
              <a:ext uri="{FF2B5EF4-FFF2-40B4-BE49-F238E27FC236}">
                <a16:creationId xmlns:a16="http://schemas.microsoft.com/office/drawing/2014/main" id="{0AD11CB7-0375-8712-05D0-B35E8CC48AD4}"/>
              </a:ext>
            </a:extLst>
          </p:cNvPr>
          <p:cNvSpPr>
            <a:spLocks noGrp="1"/>
          </p:cNvSpPr>
          <p:nvPr>
            <p:ph type="title"/>
          </p:nvPr>
        </p:nvSpPr>
        <p:spPr/>
        <p:txBody>
          <a:bodyPr/>
          <a:lstStyle/>
          <a:p>
            <a:r>
              <a:rPr lang="en-US" dirty="0">
                <a:solidFill>
                  <a:schemeClr val="accent1">
                    <a:lumMod val="75000"/>
                  </a:schemeClr>
                </a:solidFill>
                <a:effectLst>
                  <a:outerShdw blurRad="38100" dist="38100" dir="2700000" algn="tl">
                    <a:srgbClr val="000000">
                      <a:alpha val="43137"/>
                    </a:srgbClr>
                  </a:outerShdw>
                </a:effectLst>
              </a:rPr>
              <a:t>OUTLINE:</a:t>
            </a:r>
            <a:endParaRPr lang="en-PH" dirty="0">
              <a:solidFill>
                <a:schemeClr val="accent1">
                  <a:lumMod val="75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6577DF1-2D0D-9696-8877-F2516E2F8DF5}"/>
              </a:ext>
            </a:extLst>
          </p:cNvPr>
          <p:cNvSpPr>
            <a:spLocks noGrp="1"/>
          </p:cNvSpPr>
          <p:nvPr>
            <p:ph idx="1"/>
          </p:nvPr>
        </p:nvSpPr>
        <p:spPr/>
        <p:txBody>
          <a:bodyPr/>
          <a:lstStyle/>
          <a:p>
            <a:pPr>
              <a:buFont typeface="Wingdings" panose="05000000000000000000" pitchFamily="2" charset="2"/>
              <a:buChar char="Ø"/>
            </a:pPr>
            <a:r>
              <a:rPr lang="en-US" dirty="0">
                <a:solidFill>
                  <a:schemeClr val="accent1">
                    <a:lumMod val="60000"/>
                    <a:lumOff val="40000"/>
                  </a:schemeClr>
                </a:solidFill>
              </a:rPr>
              <a:t> Business Problem</a:t>
            </a:r>
          </a:p>
          <a:p>
            <a:pPr>
              <a:buFont typeface="Wingdings" panose="05000000000000000000" pitchFamily="2" charset="2"/>
              <a:buChar char="Ø"/>
            </a:pPr>
            <a:r>
              <a:rPr lang="en-US" dirty="0">
                <a:solidFill>
                  <a:schemeClr val="accent1">
                    <a:lumMod val="60000"/>
                    <a:lumOff val="40000"/>
                  </a:schemeClr>
                </a:solidFill>
              </a:rPr>
              <a:t> Our Approach</a:t>
            </a:r>
          </a:p>
          <a:p>
            <a:pPr>
              <a:buFont typeface="Wingdings" panose="05000000000000000000" pitchFamily="2" charset="2"/>
              <a:buChar char="Ø"/>
            </a:pPr>
            <a:r>
              <a:rPr lang="en-US" dirty="0">
                <a:solidFill>
                  <a:schemeClr val="accent1">
                    <a:lumMod val="60000"/>
                    <a:lumOff val="40000"/>
                  </a:schemeClr>
                </a:solidFill>
              </a:rPr>
              <a:t> Key Findings</a:t>
            </a:r>
          </a:p>
          <a:p>
            <a:pPr>
              <a:buFont typeface="Wingdings" panose="05000000000000000000" pitchFamily="2" charset="2"/>
              <a:buChar char="Ø"/>
            </a:pPr>
            <a:r>
              <a:rPr lang="en-US" dirty="0">
                <a:solidFill>
                  <a:schemeClr val="accent1">
                    <a:lumMod val="60000"/>
                    <a:lumOff val="40000"/>
                  </a:schemeClr>
                </a:solidFill>
              </a:rPr>
              <a:t> Results</a:t>
            </a:r>
          </a:p>
          <a:p>
            <a:pPr>
              <a:buFont typeface="Wingdings" panose="05000000000000000000" pitchFamily="2" charset="2"/>
              <a:buChar char="Ø"/>
            </a:pPr>
            <a:r>
              <a:rPr lang="en-US" dirty="0">
                <a:solidFill>
                  <a:schemeClr val="accent1">
                    <a:lumMod val="60000"/>
                    <a:lumOff val="40000"/>
                  </a:schemeClr>
                </a:solidFill>
              </a:rPr>
              <a:t> Recommendations</a:t>
            </a:r>
          </a:p>
          <a:p>
            <a:pPr>
              <a:buFont typeface="Wingdings" panose="05000000000000000000" pitchFamily="2" charset="2"/>
              <a:buChar char="Ø"/>
            </a:pPr>
            <a:r>
              <a:rPr lang="en-US" dirty="0">
                <a:solidFill>
                  <a:schemeClr val="accent1">
                    <a:lumMod val="60000"/>
                    <a:lumOff val="40000"/>
                  </a:schemeClr>
                </a:solidFill>
              </a:rPr>
              <a:t> Risks and Considerations</a:t>
            </a:r>
          </a:p>
          <a:p>
            <a:pPr>
              <a:buFont typeface="Wingdings" panose="05000000000000000000" pitchFamily="2" charset="2"/>
              <a:buChar char="Ø"/>
            </a:pPr>
            <a:r>
              <a:rPr lang="en-US" dirty="0">
                <a:solidFill>
                  <a:schemeClr val="accent1">
                    <a:lumMod val="60000"/>
                    <a:lumOff val="40000"/>
                  </a:schemeClr>
                </a:solidFill>
              </a:rPr>
              <a:t> Next Steps &amp; ROI Projection</a:t>
            </a:r>
            <a:endParaRPr lang="en-PH" dirty="0">
              <a:solidFill>
                <a:schemeClr val="accent1">
                  <a:lumMod val="60000"/>
                  <a:lumOff val="40000"/>
                </a:schemeClr>
              </a:solidFill>
            </a:endParaRPr>
          </a:p>
        </p:txBody>
      </p:sp>
    </p:spTree>
    <p:extLst>
      <p:ext uri="{BB962C8B-B14F-4D97-AF65-F5344CB8AC3E}">
        <p14:creationId xmlns:p14="http://schemas.microsoft.com/office/powerpoint/2010/main" val="1257489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B617-E7D3-6479-F92D-36CB8A96A037}"/>
              </a:ext>
            </a:extLst>
          </p:cNvPr>
          <p:cNvSpPr>
            <a:spLocks noGrp="1"/>
          </p:cNvSpPr>
          <p:nvPr>
            <p:ph type="title"/>
          </p:nvPr>
        </p:nvSpPr>
        <p:spPr/>
        <p:txBody>
          <a:bodyPr/>
          <a:lstStyle/>
          <a:p>
            <a:r>
              <a:rPr lang="en-US" dirty="0">
                <a:solidFill>
                  <a:schemeClr val="accent1">
                    <a:lumMod val="60000"/>
                    <a:lumOff val="40000"/>
                  </a:schemeClr>
                </a:solidFill>
              </a:rPr>
              <a:t>Business Problem</a:t>
            </a:r>
            <a:endParaRPr lang="en-PH" dirty="0">
              <a:solidFill>
                <a:schemeClr val="accent1">
                  <a:lumMod val="60000"/>
                  <a:lumOff val="40000"/>
                </a:schemeClr>
              </a:solidFill>
            </a:endParaRPr>
          </a:p>
        </p:txBody>
      </p:sp>
      <p:pic>
        <p:nvPicPr>
          <p:cNvPr id="1026" name="Picture 2">
            <a:extLst>
              <a:ext uri="{FF2B5EF4-FFF2-40B4-BE49-F238E27FC236}">
                <a16:creationId xmlns:a16="http://schemas.microsoft.com/office/drawing/2014/main" id="{9154F611-8370-BAB1-64BC-BB677EF268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66559" y="2060369"/>
            <a:ext cx="5067583" cy="37628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BCB4170-32E6-0C21-F617-F6C0542D3E35}"/>
              </a:ext>
            </a:extLst>
          </p:cNvPr>
          <p:cNvSpPr txBox="1"/>
          <p:nvPr/>
        </p:nvSpPr>
        <p:spPr>
          <a:xfrm>
            <a:off x="10241280" y="4032504"/>
            <a:ext cx="914400" cy="369332"/>
          </a:xfrm>
          <a:prstGeom prst="rect">
            <a:avLst/>
          </a:prstGeom>
          <a:noFill/>
        </p:spPr>
        <p:txBody>
          <a:bodyPr wrap="square" rtlCol="0">
            <a:spAutoFit/>
          </a:bodyPr>
          <a:lstStyle/>
          <a:p>
            <a:r>
              <a:rPr lang="en-US" b="1" dirty="0">
                <a:solidFill>
                  <a:srgbClr val="FFFF00"/>
                </a:solidFill>
              </a:rPr>
              <a:t>32.32%</a:t>
            </a:r>
            <a:endParaRPr lang="en-PH" b="1" dirty="0">
              <a:solidFill>
                <a:srgbClr val="FFFF00"/>
              </a:solidFill>
            </a:endParaRPr>
          </a:p>
        </p:txBody>
      </p:sp>
      <p:sp>
        <p:nvSpPr>
          <p:cNvPr id="5" name="TextBox 4">
            <a:extLst>
              <a:ext uri="{FF2B5EF4-FFF2-40B4-BE49-F238E27FC236}">
                <a16:creationId xmlns:a16="http://schemas.microsoft.com/office/drawing/2014/main" id="{5D4B0E50-1C2E-E45D-E875-A77E1F1889AD}"/>
              </a:ext>
            </a:extLst>
          </p:cNvPr>
          <p:cNvSpPr txBox="1"/>
          <p:nvPr/>
        </p:nvSpPr>
        <p:spPr>
          <a:xfrm>
            <a:off x="1298448" y="2060369"/>
            <a:ext cx="5067583"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Wingdings" panose="05000000000000000000" pitchFamily="2" charset="2"/>
              <a:buChar char="§"/>
            </a:pPr>
            <a:r>
              <a:rPr lang="en-US" altLang="en-US" dirty="0">
                <a:solidFill>
                  <a:schemeClr val="accent2">
                    <a:lumMod val="75000"/>
                  </a:schemeClr>
                </a:solidFill>
                <a:latin typeface="system-ui"/>
              </a:rPr>
              <a:t> There are </a:t>
            </a:r>
            <a:r>
              <a:rPr lang="en-US" altLang="en-US" b="1" dirty="0">
                <a:solidFill>
                  <a:schemeClr val="accent2">
                    <a:lumMod val="75000"/>
                  </a:schemeClr>
                </a:solidFill>
                <a:latin typeface="system-ui"/>
              </a:rPr>
              <a:t>32.32%</a:t>
            </a:r>
            <a:r>
              <a:rPr lang="en-US" altLang="en-US" dirty="0">
                <a:solidFill>
                  <a:schemeClr val="accent2">
                    <a:lumMod val="75000"/>
                  </a:schemeClr>
                </a:solidFill>
                <a:latin typeface="system-ui"/>
              </a:rPr>
              <a:t> cancelled orders in the past year from August 2024 to 2025.</a:t>
            </a:r>
          </a:p>
          <a:p>
            <a:pPr marL="285750" lvl="0" indent="-285750" defTabSz="914400" eaLnBrk="0" fontAlgn="base" hangingPunct="0">
              <a:spcBef>
                <a:spcPct val="0"/>
              </a:spcBef>
              <a:spcAft>
                <a:spcPct val="0"/>
              </a:spcAft>
              <a:buFont typeface="Wingdings" panose="05000000000000000000" pitchFamily="2" charset="2"/>
              <a:buChar char="§"/>
            </a:pPr>
            <a:endParaRPr lang="en-US" altLang="en-US" dirty="0">
              <a:solidFill>
                <a:schemeClr val="accent2">
                  <a:lumMod val="75000"/>
                </a:schemeClr>
              </a:solidFill>
              <a:latin typeface="system-ui"/>
            </a:endParaRPr>
          </a:p>
          <a:p>
            <a:pPr marL="285750" lvl="0" indent="-285750" defTabSz="914400" eaLnBrk="0" fontAlgn="base" hangingPunct="0">
              <a:spcBef>
                <a:spcPct val="0"/>
              </a:spcBef>
              <a:spcAft>
                <a:spcPct val="0"/>
              </a:spcAft>
              <a:buFont typeface="Wingdings" panose="05000000000000000000" pitchFamily="2" charset="2"/>
              <a:buChar char="§"/>
            </a:pPr>
            <a:r>
              <a:rPr lang="en-US" altLang="en-US" dirty="0">
                <a:solidFill>
                  <a:schemeClr val="accent2">
                    <a:lumMod val="75000"/>
                  </a:schemeClr>
                </a:solidFill>
                <a:latin typeface="system-ui"/>
              </a:rPr>
              <a:t> The order cost of cancellations ranges from 100 to 1500 Indian Rupees.</a:t>
            </a:r>
          </a:p>
          <a:p>
            <a:pPr marL="285750" lvl="0" indent="-285750" defTabSz="914400" eaLnBrk="0" fontAlgn="base" hangingPunct="0">
              <a:spcBef>
                <a:spcPct val="0"/>
              </a:spcBef>
              <a:spcAft>
                <a:spcPct val="0"/>
              </a:spcAft>
              <a:buFont typeface="Wingdings" panose="05000000000000000000" pitchFamily="2" charset="2"/>
              <a:buChar char="§"/>
            </a:pPr>
            <a:endParaRPr lang="en-US" altLang="en-US" dirty="0">
              <a:solidFill>
                <a:schemeClr val="accent2">
                  <a:lumMod val="75000"/>
                </a:schemeClr>
              </a:solidFill>
              <a:latin typeface="system-ui"/>
            </a:endParaRPr>
          </a:p>
          <a:p>
            <a:pPr marL="285750" lvl="0" indent="-285750" defTabSz="914400" eaLnBrk="0" fontAlgn="base" hangingPunct="0">
              <a:spcBef>
                <a:spcPct val="0"/>
              </a:spcBef>
              <a:spcAft>
                <a:spcPct val="0"/>
              </a:spcAft>
              <a:buFont typeface="Wingdings" panose="05000000000000000000" pitchFamily="2" charset="2"/>
              <a:buChar char="§"/>
            </a:pPr>
            <a:r>
              <a:rPr lang="en-US" altLang="en-US" dirty="0">
                <a:solidFill>
                  <a:schemeClr val="accent2">
                    <a:lumMod val="75000"/>
                  </a:schemeClr>
                </a:solidFill>
                <a:latin typeface="system-ui"/>
              </a:rPr>
              <a:t> The months of January, March, August, September and October have the highest cancellations (&gt;500 counts)</a:t>
            </a:r>
            <a:endParaRPr lang="en-US" altLang="en-US" sz="4000" dirty="0">
              <a:solidFill>
                <a:schemeClr val="accent2">
                  <a:lumMod val="75000"/>
                </a:schemeClr>
              </a:solidFill>
              <a:latin typeface="Arial" panose="020B0604020202020204" pitchFamily="34" charset="0"/>
            </a:endParaRPr>
          </a:p>
        </p:txBody>
      </p:sp>
      <p:sp>
        <p:nvSpPr>
          <p:cNvPr id="7" name="TextBox 6">
            <a:extLst>
              <a:ext uri="{FF2B5EF4-FFF2-40B4-BE49-F238E27FC236}">
                <a16:creationId xmlns:a16="http://schemas.microsoft.com/office/drawing/2014/main" id="{9BFB1F9D-0EE5-63FE-DA68-3F263933DDF5}"/>
              </a:ext>
            </a:extLst>
          </p:cNvPr>
          <p:cNvSpPr txBox="1"/>
          <p:nvPr/>
        </p:nvSpPr>
        <p:spPr>
          <a:xfrm>
            <a:off x="694944" y="4946904"/>
            <a:ext cx="5742432" cy="707886"/>
          </a:xfrm>
          <a:prstGeom prst="rect">
            <a:avLst/>
          </a:prstGeom>
          <a:noFill/>
        </p:spPr>
        <p:txBody>
          <a:bodyPr wrap="square" rtlCol="0">
            <a:spAutoFit/>
          </a:bodyPr>
          <a:lstStyle/>
          <a:p>
            <a:pPr algn="ctr"/>
            <a:r>
              <a:rPr lang="en-US" sz="2000" b="1" dirty="0">
                <a:solidFill>
                  <a:schemeClr val="accent6">
                    <a:lumMod val="50000"/>
                  </a:schemeClr>
                </a:solidFill>
              </a:rPr>
              <a:t>We lost 1,571,276.37 Indian Rupees ($ 16,624) due to order cancellations in one year.</a:t>
            </a:r>
            <a:endParaRPr lang="en-PH" sz="2000" b="1" dirty="0">
              <a:solidFill>
                <a:schemeClr val="accent6">
                  <a:lumMod val="50000"/>
                </a:schemeClr>
              </a:solidFill>
            </a:endParaRPr>
          </a:p>
        </p:txBody>
      </p:sp>
    </p:spTree>
    <p:extLst>
      <p:ext uri="{BB962C8B-B14F-4D97-AF65-F5344CB8AC3E}">
        <p14:creationId xmlns:p14="http://schemas.microsoft.com/office/powerpoint/2010/main" val="1365169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1547-AEF8-90CD-DD85-B9B7149E7063}"/>
              </a:ext>
            </a:extLst>
          </p:cNvPr>
          <p:cNvSpPr>
            <a:spLocks noGrp="1"/>
          </p:cNvSpPr>
          <p:nvPr>
            <p:ph type="title"/>
          </p:nvPr>
        </p:nvSpPr>
        <p:spPr/>
        <p:txBody>
          <a:bodyPr/>
          <a:lstStyle/>
          <a:p>
            <a:r>
              <a:rPr lang="en-US" dirty="0">
                <a:solidFill>
                  <a:schemeClr val="accent1">
                    <a:lumMod val="60000"/>
                    <a:lumOff val="40000"/>
                  </a:schemeClr>
                </a:solidFill>
              </a:rPr>
              <a:t>Our Approach</a:t>
            </a:r>
            <a:endParaRPr lang="en-PH"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E8D9B352-7B26-86CA-CD0F-87B99179E246}"/>
              </a:ext>
            </a:extLst>
          </p:cNvPr>
          <p:cNvSpPr>
            <a:spLocks noGrp="1"/>
          </p:cNvSpPr>
          <p:nvPr>
            <p:ph idx="1"/>
          </p:nvPr>
        </p:nvSpPr>
        <p:spPr/>
        <p:txBody>
          <a:bodyPr/>
          <a:lstStyle/>
          <a:p>
            <a:pPr>
              <a:buFont typeface="Wingdings" panose="05000000000000000000" pitchFamily="2" charset="2"/>
              <a:buChar char="q"/>
            </a:pPr>
            <a:r>
              <a:rPr lang="en-US" dirty="0"/>
              <a:t> Identify: </a:t>
            </a:r>
          </a:p>
          <a:p>
            <a:pPr marL="0" indent="0">
              <a:buNone/>
            </a:pPr>
            <a:r>
              <a:rPr lang="en-PH" dirty="0"/>
              <a:t>	</a:t>
            </a:r>
            <a:r>
              <a:rPr lang="en-PH" sz="2400" i="1" dirty="0"/>
              <a:t>Which orders are likely to be cancelled before fulfillment?</a:t>
            </a:r>
          </a:p>
          <a:p>
            <a:pPr marL="0" indent="0">
              <a:buNone/>
            </a:pPr>
            <a:endParaRPr lang="en-PH" sz="2400" i="1" dirty="0"/>
          </a:p>
          <a:p>
            <a:pPr>
              <a:buFont typeface="Wingdings" panose="05000000000000000000" pitchFamily="2" charset="2"/>
              <a:buChar char="q"/>
            </a:pPr>
            <a:r>
              <a:rPr lang="en-PH" dirty="0"/>
              <a:t> Once identified:</a:t>
            </a:r>
          </a:p>
          <a:p>
            <a:pPr lvl="1">
              <a:buFont typeface="Wingdings" panose="05000000000000000000" pitchFamily="2" charset="2"/>
              <a:buChar char="ü"/>
            </a:pPr>
            <a:r>
              <a:rPr lang="en-PH" dirty="0"/>
              <a:t> Provide proactive interventions (</a:t>
            </a:r>
            <a:r>
              <a:rPr lang="en-US" dirty="0"/>
              <a:t>discounts, faster dispatch, alerts)</a:t>
            </a:r>
            <a:endParaRPr lang="en-PH" dirty="0"/>
          </a:p>
          <a:p>
            <a:pPr lvl="1">
              <a:buFont typeface="Wingdings" panose="05000000000000000000" pitchFamily="2" charset="2"/>
              <a:buChar char="ü"/>
            </a:pPr>
            <a:r>
              <a:rPr lang="en-US" dirty="0"/>
              <a:t> Create system changes, solutions and preventive measures </a:t>
            </a:r>
          </a:p>
          <a:p>
            <a:pPr lvl="1">
              <a:buFont typeface="Wingdings" panose="05000000000000000000" pitchFamily="2" charset="2"/>
              <a:buChar char="ü"/>
            </a:pPr>
            <a:r>
              <a:rPr lang="en-US" dirty="0"/>
              <a:t> Measure the savings and earnings from these interventions</a:t>
            </a:r>
          </a:p>
          <a:p>
            <a:pPr lvl="1">
              <a:buFont typeface="Wingdings" panose="05000000000000000000" pitchFamily="2" charset="2"/>
              <a:buChar char="ü"/>
            </a:pPr>
            <a:r>
              <a:rPr lang="en-US" dirty="0"/>
              <a:t> Review customers’ brand loyalty and patronage </a:t>
            </a:r>
          </a:p>
        </p:txBody>
      </p:sp>
    </p:spTree>
    <p:extLst>
      <p:ext uri="{BB962C8B-B14F-4D97-AF65-F5344CB8AC3E}">
        <p14:creationId xmlns:p14="http://schemas.microsoft.com/office/powerpoint/2010/main" val="539718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A7CD-4444-0E52-13BE-FAB41323A52F}"/>
              </a:ext>
            </a:extLst>
          </p:cNvPr>
          <p:cNvSpPr>
            <a:spLocks noGrp="1"/>
          </p:cNvSpPr>
          <p:nvPr>
            <p:ph type="title"/>
          </p:nvPr>
        </p:nvSpPr>
        <p:spPr/>
        <p:txBody>
          <a:bodyPr/>
          <a:lstStyle/>
          <a:p>
            <a:r>
              <a:rPr lang="en-US" dirty="0">
                <a:solidFill>
                  <a:schemeClr val="accent1">
                    <a:lumMod val="60000"/>
                    <a:lumOff val="40000"/>
                  </a:schemeClr>
                </a:solidFill>
              </a:rPr>
              <a:t>Key Findings</a:t>
            </a:r>
            <a:endParaRPr lang="en-PH" dirty="0">
              <a:solidFill>
                <a:schemeClr val="accent1">
                  <a:lumMod val="60000"/>
                  <a:lumOff val="40000"/>
                </a:schemeClr>
              </a:solidFill>
            </a:endParaRPr>
          </a:p>
        </p:txBody>
      </p:sp>
      <p:pic>
        <p:nvPicPr>
          <p:cNvPr id="4" name="Content Placeholder 3">
            <a:extLst>
              <a:ext uri="{FF2B5EF4-FFF2-40B4-BE49-F238E27FC236}">
                <a16:creationId xmlns:a16="http://schemas.microsoft.com/office/drawing/2014/main" id="{7F6F607E-C0DB-0629-36A3-C2A94DAD6E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464" y="1808618"/>
            <a:ext cx="3401256" cy="2128601"/>
          </a:xfrm>
          <a:prstGeom prst="rect">
            <a:avLst/>
          </a:prstGeom>
          <a:noFill/>
          <a:ln>
            <a:noFill/>
          </a:ln>
        </p:spPr>
      </p:pic>
      <p:pic>
        <p:nvPicPr>
          <p:cNvPr id="5" name="Picture 4">
            <a:extLst>
              <a:ext uri="{FF2B5EF4-FFF2-40B4-BE49-F238E27FC236}">
                <a16:creationId xmlns:a16="http://schemas.microsoft.com/office/drawing/2014/main" id="{236F51A1-B665-2413-7D8C-528FADD36D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447" y="3982292"/>
            <a:ext cx="3399273" cy="2128601"/>
          </a:xfrm>
          <a:prstGeom prst="rect">
            <a:avLst/>
          </a:prstGeom>
          <a:noFill/>
          <a:ln>
            <a:noFill/>
          </a:ln>
        </p:spPr>
      </p:pic>
      <p:sp>
        <p:nvSpPr>
          <p:cNvPr id="6" name="TextBox 5">
            <a:extLst>
              <a:ext uri="{FF2B5EF4-FFF2-40B4-BE49-F238E27FC236}">
                <a16:creationId xmlns:a16="http://schemas.microsoft.com/office/drawing/2014/main" id="{B820F0D2-1FE2-C84E-3F3D-1BD6B9D3B39B}"/>
              </a:ext>
            </a:extLst>
          </p:cNvPr>
          <p:cNvSpPr txBox="1"/>
          <p:nvPr/>
        </p:nvSpPr>
        <p:spPr>
          <a:xfrm>
            <a:off x="3684720" y="2495133"/>
            <a:ext cx="2606352" cy="1200329"/>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accent2">
                    <a:lumMod val="75000"/>
                  </a:schemeClr>
                </a:solidFill>
              </a:rPr>
              <a:t>Cancellation happens across the full range of the transactions’ price or amount. </a:t>
            </a:r>
            <a:endParaRPr lang="en-PH" dirty="0">
              <a:solidFill>
                <a:schemeClr val="accent2">
                  <a:lumMod val="75000"/>
                </a:schemeClr>
              </a:solidFill>
            </a:endParaRPr>
          </a:p>
        </p:txBody>
      </p:sp>
      <p:sp>
        <p:nvSpPr>
          <p:cNvPr id="7" name="TextBox 6">
            <a:extLst>
              <a:ext uri="{FF2B5EF4-FFF2-40B4-BE49-F238E27FC236}">
                <a16:creationId xmlns:a16="http://schemas.microsoft.com/office/drawing/2014/main" id="{B22F2965-17EB-15C6-D69A-B4DD2768467B}"/>
              </a:ext>
            </a:extLst>
          </p:cNvPr>
          <p:cNvSpPr txBox="1"/>
          <p:nvPr/>
        </p:nvSpPr>
        <p:spPr>
          <a:xfrm>
            <a:off x="3684720" y="4381977"/>
            <a:ext cx="2743512"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accent2">
                    <a:lumMod val="75000"/>
                  </a:schemeClr>
                </a:solidFill>
              </a:rPr>
              <a:t>High cancellations (&gt;500 counts) occurred during the months of January, March, August, September and October. </a:t>
            </a:r>
            <a:endParaRPr lang="en-PH" dirty="0">
              <a:solidFill>
                <a:schemeClr val="accent2">
                  <a:lumMod val="75000"/>
                </a:schemeClr>
              </a:solidFill>
            </a:endParaRPr>
          </a:p>
        </p:txBody>
      </p:sp>
      <p:pic>
        <p:nvPicPr>
          <p:cNvPr id="2050" name="Picture 2">
            <a:extLst>
              <a:ext uri="{FF2B5EF4-FFF2-40B4-BE49-F238E27FC236}">
                <a16:creationId xmlns:a16="http://schemas.microsoft.com/office/drawing/2014/main" id="{4602837A-A7DA-AFF6-971B-17250A37A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5200" y="1808618"/>
            <a:ext cx="4194437" cy="27529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737D857-590F-B9CD-E2C9-C3154FDA7105}"/>
              </a:ext>
            </a:extLst>
          </p:cNvPr>
          <p:cNvSpPr txBox="1"/>
          <p:nvPr/>
        </p:nvSpPr>
        <p:spPr>
          <a:xfrm>
            <a:off x="7452361" y="4717257"/>
            <a:ext cx="3947276"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accent2">
                    <a:lumMod val="75000"/>
                  </a:schemeClr>
                </a:solidFill>
              </a:rPr>
              <a:t>Certain locations have higher cancellations than others.</a:t>
            </a:r>
            <a:endParaRPr lang="en-PH" dirty="0">
              <a:solidFill>
                <a:schemeClr val="accent2">
                  <a:lumMod val="75000"/>
                </a:schemeClr>
              </a:solidFill>
            </a:endParaRPr>
          </a:p>
        </p:txBody>
      </p:sp>
    </p:spTree>
    <p:extLst>
      <p:ext uri="{BB962C8B-B14F-4D97-AF65-F5344CB8AC3E}">
        <p14:creationId xmlns:p14="http://schemas.microsoft.com/office/powerpoint/2010/main" val="2123897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AA11-6D8D-5394-65A5-05C3518FF0FF}"/>
              </a:ext>
            </a:extLst>
          </p:cNvPr>
          <p:cNvSpPr>
            <a:spLocks noGrp="1"/>
          </p:cNvSpPr>
          <p:nvPr>
            <p:ph type="title"/>
          </p:nvPr>
        </p:nvSpPr>
        <p:spPr/>
        <p:txBody>
          <a:bodyPr/>
          <a:lstStyle/>
          <a:p>
            <a:r>
              <a:rPr lang="en-US" dirty="0">
                <a:solidFill>
                  <a:schemeClr val="accent1">
                    <a:lumMod val="60000"/>
                    <a:lumOff val="40000"/>
                  </a:schemeClr>
                </a:solidFill>
              </a:rPr>
              <a:t>Results</a:t>
            </a:r>
            <a:endParaRPr lang="en-PH"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2D256327-B703-F8FC-128D-17F40C3CBB5F}"/>
              </a:ext>
            </a:extLst>
          </p:cNvPr>
          <p:cNvSpPr>
            <a:spLocks noGrp="1"/>
          </p:cNvSpPr>
          <p:nvPr>
            <p:ph idx="1"/>
          </p:nvPr>
        </p:nvSpPr>
        <p:spPr/>
        <p:txBody>
          <a:bodyPr/>
          <a:lstStyle/>
          <a:p>
            <a:pPr>
              <a:buFont typeface="Wingdings" panose="05000000000000000000" pitchFamily="2" charset="2"/>
              <a:buChar char="Ø"/>
            </a:pPr>
            <a:r>
              <a:rPr lang="en-US" dirty="0"/>
              <a:t> Supervised Classification Algorithm is employed comparing three algorithms: Random Forest, </a:t>
            </a:r>
            <a:r>
              <a:rPr lang="en-US" dirty="0" err="1"/>
              <a:t>XGBoost</a:t>
            </a:r>
            <a:r>
              <a:rPr lang="en-US" dirty="0"/>
              <a:t>, and SVM to determine which model will provide the answer on which features can predict order cancellations.</a:t>
            </a:r>
            <a:endParaRPr lang="en-PH" dirty="0"/>
          </a:p>
        </p:txBody>
      </p:sp>
      <p:pic>
        <p:nvPicPr>
          <p:cNvPr id="5" name="Picture 4">
            <a:extLst>
              <a:ext uri="{FF2B5EF4-FFF2-40B4-BE49-F238E27FC236}">
                <a16:creationId xmlns:a16="http://schemas.microsoft.com/office/drawing/2014/main" id="{57B684AE-9D66-0569-F673-38E659572C2A}"/>
              </a:ext>
            </a:extLst>
          </p:cNvPr>
          <p:cNvPicPr>
            <a:picLocks noChangeAspect="1"/>
          </p:cNvPicPr>
          <p:nvPr/>
        </p:nvPicPr>
        <p:blipFill>
          <a:blip r:embed="rId2"/>
          <a:stretch>
            <a:fillRect/>
          </a:stretch>
        </p:blipFill>
        <p:spPr>
          <a:xfrm>
            <a:off x="1963714" y="2701654"/>
            <a:ext cx="7925207" cy="2311519"/>
          </a:xfrm>
          <a:prstGeom prst="rect">
            <a:avLst/>
          </a:prstGeom>
        </p:spPr>
      </p:pic>
      <p:pic>
        <p:nvPicPr>
          <p:cNvPr id="6" name="Picture 5">
            <a:extLst>
              <a:ext uri="{FF2B5EF4-FFF2-40B4-BE49-F238E27FC236}">
                <a16:creationId xmlns:a16="http://schemas.microsoft.com/office/drawing/2014/main" id="{51F010C5-0454-BCB4-E44A-26C29C993E54}"/>
              </a:ext>
            </a:extLst>
          </p:cNvPr>
          <p:cNvPicPr>
            <a:picLocks noChangeAspect="1"/>
          </p:cNvPicPr>
          <p:nvPr/>
        </p:nvPicPr>
        <p:blipFill>
          <a:blip r:embed="rId3"/>
          <a:stretch>
            <a:fillRect/>
          </a:stretch>
        </p:blipFill>
        <p:spPr>
          <a:xfrm>
            <a:off x="1036320" y="5013173"/>
            <a:ext cx="6780879" cy="1125783"/>
          </a:xfrm>
          <a:prstGeom prst="rect">
            <a:avLst/>
          </a:prstGeom>
        </p:spPr>
      </p:pic>
      <p:sp>
        <p:nvSpPr>
          <p:cNvPr id="7" name="Rectangle 6">
            <a:extLst>
              <a:ext uri="{FF2B5EF4-FFF2-40B4-BE49-F238E27FC236}">
                <a16:creationId xmlns:a16="http://schemas.microsoft.com/office/drawing/2014/main" id="{DAC2D0BC-DEAA-CD2F-AF86-F35864FA27B2}"/>
              </a:ext>
            </a:extLst>
          </p:cNvPr>
          <p:cNvSpPr/>
          <p:nvPr/>
        </p:nvSpPr>
        <p:spPr>
          <a:xfrm>
            <a:off x="1036320" y="5869093"/>
            <a:ext cx="10488262" cy="343170"/>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75000"/>
                  </a:schemeClr>
                </a:solidFill>
              </a:rPr>
              <a:t> 								                           </a:t>
            </a:r>
            <a:r>
              <a:rPr lang="en-US" dirty="0">
                <a:solidFill>
                  <a:schemeClr val="accent6">
                    <a:lumMod val="75000"/>
                  </a:schemeClr>
                </a:solidFill>
                <a:sym typeface="Wingdings" panose="05000000000000000000" pitchFamily="2" charset="2"/>
              </a:rPr>
              <a:t> Selected Model</a:t>
            </a:r>
            <a:endParaRPr lang="en-PH" dirty="0">
              <a:solidFill>
                <a:schemeClr val="accent6">
                  <a:lumMod val="75000"/>
                </a:schemeClr>
              </a:solidFill>
            </a:endParaRPr>
          </a:p>
        </p:txBody>
      </p:sp>
    </p:spTree>
    <p:extLst>
      <p:ext uri="{BB962C8B-B14F-4D97-AF65-F5344CB8AC3E}">
        <p14:creationId xmlns:p14="http://schemas.microsoft.com/office/powerpoint/2010/main" val="1090046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6FAC-3540-570C-9AEB-AE741F926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4ECE1-B676-6F3E-959E-A157AD57637B}"/>
              </a:ext>
            </a:extLst>
          </p:cNvPr>
          <p:cNvSpPr>
            <a:spLocks noGrp="1"/>
          </p:cNvSpPr>
          <p:nvPr>
            <p:ph type="title"/>
          </p:nvPr>
        </p:nvSpPr>
        <p:spPr>
          <a:xfrm>
            <a:off x="1097280" y="286603"/>
            <a:ext cx="10058400" cy="1427160"/>
          </a:xfrm>
        </p:spPr>
        <p:txBody>
          <a:bodyPr/>
          <a:lstStyle/>
          <a:p>
            <a:r>
              <a:rPr lang="en-US" dirty="0">
                <a:solidFill>
                  <a:schemeClr val="accent1">
                    <a:lumMod val="60000"/>
                    <a:lumOff val="40000"/>
                  </a:schemeClr>
                </a:solidFill>
              </a:rPr>
              <a:t>Results</a:t>
            </a:r>
            <a:endParaRPr lang="en-PH" dirty="0">
              <a:solidFill>
                <a:schemeClr val="accent1">
                  <a:lumMod val="60000"/>
                  <a:lumOff val="40000"/>
                </a:schemeClr>
              </a:solidFill>
            </a:endParaRPr>
          </a:p>
        </p:txBody>
      </p:sp>
      <p:grpSp>
        <p:nvGrpSpPr>
          <p:cNvPr id="9" name="Group 8">
            <a:extLst>
              <a:ext uri="{FF2B5EF4-FFF2-40B4-BE49-F238E27FC236}">
                <a16:creationId xmlns:a16="http://schemas.microsoft.com/office/drawing/2014/main" id="{65148A89-C9D0-D205-57D3-8D84EE17C3CF}"/>
              </a:ext>
            </a:extLst>
          </p:cNvPr>
          <p:cNvGrpSpPr/>
          <p:nvPr/>
        </p:nvGrpSpPr>
        <p:grpSpPr>
          <a:xfrm>
            <a:off x="194268" y="1866506"/>
            <a:ext cx="9458779" cy="4323155"/>
            <a:chOff x="1994788" y="901161"/>
            <a:chExt cx="9798430" cy="4883150"/>
          </a:xfrm>
        </p:grpSpPr>
        <p:pic>
          <p:nvPicPr>
            <p:cNvPr id="10" name="Picture 9">
              <a:extLst>
                <a:ext uri="{FF2B5EF4-FFF2-40B4-BE49-F238E27FC236}">
                  <a16:creationId xmlns:a16="http://schemas.microsoft.com/office/drawing/2014/main" id="{D676C439-3E8E-DDCF-1412-7A9C0E6D4590}"/>
                </a:ext>
              </a:extLst>
            </p:cNvPr>
            <p:cNvPicPr>
              <a:picLocks noChangeAspect="1"/>
            </p:cNvPicPr>
            <p:nvPr/>
          </p:nvPicPr>
          <p:blipFill>
            <a:blip r:embed="rId2"/>
            <a:stretch>
              <a:fillRect/>
            </a:stretch>
          </p:blipFill>
          <p:spPr>
            <a:xfrm>
              <a:off x="4401438" y="1357724"/>
              <a:ext cx="7391780" cy="3797495"/>
            </a:xfrm>
            <a:prstGeom prst="rect">
              <a:avLst/>
            </a:prstGeom>
          </p:spPr>
        </p:pic>
        <p:pic>
          <p:nvPicPr>
            <p:cNvPr id="11" name="Picture 10">
              <a:extLst>
                <a:ext uri="{FF2B5EF4-FFF2-40B4-BE49-F238E27FC236}">
                  <a16:creationId xmlns:a16="http://schemas.microsoft.com/office/drawing/2014/main" id="{6D3737F6-B4B6-E56A-AC0C-BD3EE97C4B3F}"/>
                </a:ext>
              </a:extLst>
            </p:cNvPr>
            <p:cNvPicPr>
              <a:picLocks noChangeAspect="1"/>
            </p:cNvPicPr>
            <p:nvPr/>
          </p:nvPicPr>
          <p:blipFill>
            <a:blip r:embed="rId3"/>
            <a:stretch>
              <a:fillRect/>
            </a:stretch>
          </p:blipFill>
          <p:spPr>
            <a:xfrm>
              <a:off x="1994788" y="901161"/>
              <a:ext cx="2406650" cy="4883150"/>
            </a:xfrm>
            <a:prstGeom prst="rect">
              <a:avLst/>
            </a:prstGeom>
          </p:spPr>
        </p:pic>
      </p:grpSp>
      <p:sp>
        <p:nvSpPr>
          <p:cNvPr id="12" name="TextBox 11">
            <a:extLst>
              <a:ext uri="{FF2B5EF4-FFF2-40B4-BE49-F238E27FC236}">
                <a16:creationId xmlns:a16="http://schemas.microsoft.com/office/drawing/2014/main" id="{F655DE4A-3615-4E71-1509-40F3AAA4DC66}"/>
              </a:ext>
            </a:extLst>
          </p:cNvPr>
          <p:cNvSpPr txBox="1"/>
          <p:nvPr/>
        </p:nvSpPr>
        <p:spPr>
          <a:xfrm>
            <a:off x="9732694" y="2520551"/>
            <a:ext cx="2243579" cy="3139321"/>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chemeClr val="accent2">
                    <a:lumMod val="75000"/>
                  </a:schemeClr>
                </a:solidFill>
              </a:rPr>
              <a:t> the </a:t>
            </a:r>
            <a:r>
              <a:rPr lang="en-US" dirty="0" err="1">
                <a:solidFill>
                  <a:schemeClr val="accent2">
                    <a:lumMod val="75000"/>
                  </a:schemeClr>
                </a:solidFill>
              </a:rPr>
              <a:t>order_weekofyear</a:t>
            </a:r>
            <a:r>
              <a:rPr lang="en-US" dirty="0">
                <a:solidFill>
                  <a:schemeClr val="accent2">
                    <a:lumMod val="75000"/>
                  </a:schemeClr>
                </a:solidFill>
              </a:rPr>
              <a:t>, quantity, and </a:t>
            </a:r>
            <a:r>
              <a:rPr lang="en-US" dirty="0" err="1">
                <a:solidFill>
                  <a:schemeClr val="accent2">
                    <a:lumMod val="75000"/>
                  </a:schemeClr>
                </a:solidFill>
              </a:rPr>
              <a:t>city_Karachi</a:t>
            </a:r>
            <a:r>
              <a:rPr lang="en-US" dirty="0">
                <a:solidFill>
                  <a:schemeClr val="accent2">
                    <a:lumMod val="75000"/>
                  </a:schemeClr>
                </a:solidFill>
              </a:rPr>
              <a:t> are the top 3 most influential features in the data that can modestly predict cancellation of orders.</a:t>
            </a:r>
            <a:endParaRPr lang="en-PH" dirty="0">
              <a:solidFill>
                <a:schemeClr val="accent2">
                  <a:lumMod val="75000"/>
                </a:schemeClr>
              </a:solidFill>
            </a:endParaRPr>
          </a:p>
        </p:txBody>
      </p:sp>
    </p:spTree>
    <p:extLst>
      <p:ext uri="{BB962C8B-B14F-4D97-AF65-F5344CB8AC3E}">
        <p14:creationId xmlns:p14="http://schemas.microsoft.com/office/powerpoint/2010/main" val="3830220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2FDA3-CC04-606F-56BD-A8CC02117365}"/>
              </a:ext>
            </a:extLst>
          </p:cNvPr>
          <p:cNvSpPr>
            <a:spLocks noGrp="1"/>
          </p:cNvSpPr>
          <p:nvPr>
            <p:ph type="title"/>
          </p:nvPr>
        </p:nvSpPr>
        <p:spPr/>
        <p:txBody>
          <a:bodyPr/>
          <a:lstStyle/>
          <a:p>
            <a:r>
              <a:rPr lang="en-US" dirty="0">
                <a:solidFill>
                  <a:schemeClr val="accent1">
                    <a:lumMod val="60000"/>
                    <a:lumOff val="40000"/>
                  </a:schemeClr>
                </a:solidFill>
              </a:rPr>
              <a:t>Recommendations </a:t>
            </a:r>
            <a:endParaRPr lang="en-PH"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79F793FE-6EC0-FBC0-294E-7300D6BBC96C}"/>
              </a:ext>
            </a:extLst>
          </p:cNvPr>
          <p:cNvSpPr>
            <a:spLocks noGrp="1"/>
          </p:cNvSpPr>
          <p:nvPr>
            <p:ph idx="1"/>
          </p:nvPr>
        </p:nvSpPr>
        <p:spPr/>
        <p:txBody>
          <a:bodyPr>
            <a:normAutofit fontScale="77500" lnSpcReduction="20000"/>
          </a:bodyPr>
          <a:lstStyle/>
          <a:p>
            <a:pPr>
              <a:buFont typeface="Wingdings" panose="05000000000000000000" pitchFamily="2" charset="2"/>
              <a:buChar char="Ø"/>
            </a:pPr>
            <a:r>
              <a:rPr lang="en-US" dirty="0"/>
              <a:t> Management may schedule a more assertive interventions (promos or vouchers) during the months where high order cancellations occurs (&gt; 500 counts) to reduce the number of cancelled orders. These are during the months of January, March, August, September, and October.</a:t>
            </a:r>
          </a:p>
          <a:p>
            <a:pPr>
              <a:buFont typeface="Wingdings" panose="05000000000000000000" pitchFamily="2" charset="2"/>
              <a:buChar char="Ø"/>
            </a:pPr>
            <a:r>
              <a:rPr lang="en-US" dirty="0"/>
              <a:t> Management may provide promos of small quantity orders to encourage customers to order more quantities and reduce the possibility of cancelling the order.</a:t>
            </a:r>
          </a:p>
          <a:p>
            <a:pPr>
              <a:buFont typeface="Wingdings" panose="05000000000000000000" pitchFamily="2" charset="2"/>
              <a:buChar char="Ø"/>
            </a:pPr>
            <a:r>
              <a:rPr lang="en-US" dirty="0"/>
              <a:t> To review and validate further the observed high cancellation rate on certain cities and confirm whether or not there is bias on the data or if it is real the actual reality.</a:t>
            </a:r>
          </a:p>
          <a:p>
            <a:pPr>
              <a:buFont typeface="Wingdings" panose="05000000000000000000" pitchFamily="2" charset="2"/>
              <a:buChar char="Ø"/>
            </a:pPr>
            <a:r>
              <a:rPr lang="en-US" dirty="0"/>
              <a:t> To strengthen the predictive power of the model, there should be more data collected answering the following areas:</a:t>
            </a:r>
          </a:p>
          <a:p>
            <a:pPr lvl="1">
              <a:lnSpc>
                <a:spcPct val="120000"/>
              </a:lnSpc>
              <a:spcBef>
                <a:spcPts val="0"/>
              </a:spcBef>
              <a:spcAft>
                <a:spcPts val="0"/>
              </a:spcAft>
            </a:pPr>
            <a:r>
              <a:rPr lang="en-PH" dirty="0"/>
              <a:t>a. app’s indicated delivery time</a:t>
            </a:r>
          </a:p>
          <a:p>
            <a:pPr lvl="1">
              <a:lnSpc>
                <a:spcPct val="120000"/>
              </a:lnSpc>
              <a:spcBef>
                <a:spcPts val="0"/>
              </a:spcBef>
              <a:spcAft>
                <a:spcPts val="0"/>
              </a:spcAft>
            </a:pPr>
            <a:r>
              <a:rPr lang="en-PH" dirty="0"/>
              <a:t>b. time between the placement of order and the delivery (or cancellation)</a:t>
            </a:r>
          </a:p>
          <a:p>
            <a:pPr lvl="1">
              <a:lnSpc>
                <a:spcPct val="120000"/>
              </a:lnSpc>
              <a:spcBef>
                <a:spcPts val="0"/>
              </a:spcBef>
              <a:spcAft>
                <a:spcPts val="0"/>
              </a:spcAft>
            </a:pPr>
            <a:r>
              <a:rPr lang="en-PH" dirty="0"/>
              <a:t>c. driver assignment time (how long for the order to be assigned to a driver)</a:t>
            </a:r>
          </a:p>
          <a:p>
            <a:pPr lvl="1">
              <a:lnSpc>
                <a:spcPct val="120000"/>
              </a:lnSpc>
              <a:spcBef>
                <a:spcPts val="0"/>
              </a:spcBef>
              <a:spcAft>
                <a:spcPts val="0"/>
              </a:spcAft>
            </a:pPr>
            <a:r>
              <a:rPr lang="en-PH" dirty="0"/>
              <a:t>d. duration of time for the restaurant to fulfill the order</a:t>
            </a:r>
          </a:p>
          <a:p>
            <a:pPr lvl="1">
              <a:lnSpc>
                <a:spcPct val="120000"/>
              </a:lnSpc>
              <a:spcBef>
                <a:spcPts val="0"/>
              </a:spcBef>
              <a:spcAft>
                <a:spcPts val="0"/>
              </a:spcAft>
            </a:pPr>
            <a:r>
              <a:rPr lang="en-PH" dirty="0"/>
              <a:t>e. reason for order cancellation (availability, waiting time, rush hour, etc.)</a:t>
            </a:r>
          </a:p>
          <a:p>
            <a:pPr lvl="1">
              <a:lnSpc>
                <a:spcPct val="120000"/>
              </a:lnSpc>
              <a:spcBef>
                <a:spcPts val="0"/>
              </a:spcBef>
              <a:spcAft>
                <a:spcPts val="0"/>
              </a:spcAft>
            </a:pPr>
            <a:r>
              <a:rPr lang="en-PH" dirty="0"/>
              <a:t>f. types of cancellations (customer cancels due to change of mind, restaurant cancels due to out of stock, system cancels, or rider cancels)</a:t>
            </a:r>
          </a:p>
          <a:p>
            <a:pPr lvl="1">
              <a:lnSpc>
                <a:spcPct val="120000"/>
              </a:lnSpc>
              <a:spcBef>
                <a:spcPts val="0"/>
              </a:spcBef>
              <a:spcAft>
                <a:spcPts val="0"/>
              </a:spcAft>
            </a:pPr>
            <a:r>
              <a:rPr lang="en-PH" dirty="0"/>
              <a:t>g. other external factors (weather, road works, holidays, etc.)</a:t>
            </a:r>
          </a:p>
          <a:p>
            <a:pPr>
              <a:buFont typeface="Wingdings" panose="05000000000000000000" pitchFamily="2" charset="2"/>
              <a:buChar char="Ø"/>
            </a:pPr>
            <a:endParaRPr lang="en-PH" dirty="0"/>
          </a:p>
        </p:txBody>
      </p:sp>
    </p:spTree>
    <p:extLst>
      <p:ext uri="{BB962C8B-B14F-4D97-AF65-F5344CB8AC3E}">
        <p14:creationId xmlns:p14="http://schemas.microsoft.com/office/powerpoint/2010/main" val="987706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EF04-3CBF-FBE6-0E88-AB53CD56DF9E}"/>
              </a:ext>
            </a:extLst>
          </p:cNvPr>
          <p:cNvSpPr>
            <a:spLocks noGrp="1"/>
          </p:cNvSpPr>
          <p:nvPr>
            <p:ph type="title"/>
          </p:nvPr>
        </p:nvSpPr>
        <p:spPr/>
        <p:txBody>
          <a:bodyPr/>
          <a:lstStyle/>
          <a:p>
            <a:r>
              <a:rPr lang="en-US" dirty="0">
                <a:solidFill>
                  <a:schemeClr val="accent1">
                    <a:lumMod val="60000"/>
                    <a:lumOff val="40000"/>
                  </a:schemeClr>
                </a:solidFill>
              </a:rPr>
              <a:t>Risks and Considerations</a:t>
            </a:r>
            <a:endParaRPr lang="en-PH"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B7FE3C67-4481-57D1-BC9E-E68438AF836A}"/>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 Address data imbalance and limitations </a:t>
            </a:r>
          </a:p>
          <a:p>
            <a:pPr lvl="1">
              <a:buFont typeface="Wingdings" panose="05000000000000000000" pitchFamily="2" charset="2"/>
              <a:buChar char="§"/>
            </a:pPr>
            <a:r>
              <a:rPr lang="en-US" dirty="0"/>
              <a:t>Some features and subsets have small data population and this may lead to skewing of data, affecting integrity of the predictive power of the model</a:t>
            </a:r>
          </a:p>
          <a:p>
            <a:pPr>
              <a:buFont typeface="Wingdings" panose="05000000000000000000" pitchFamily="2" charset="2"/>
              <a:buChar char="q"/>
            </a:pPr>
            <a:r>
              <a:rPr lang="en-US" dirty="0"/>
              <a:t> Enlarge the dataset and cover other pertinent features</a:t>
            </a:r>
          </a:p>
          <a:p>
            <a:pPr lvl="1">
              <a:buFont typeface="Wingdings" panose="05000000000000000000" pitchFamily="2" charset="2"/>
              <a:buChar char="§"/>
            </a:pPr>
            <a:r>
              <a:rPr lang="en-US" dirty="0"/>
              <a:t>Include other features such as delivery time, reasons for cancellation, types of cancellation, and other external factors)</a:t>
            </a:r>
          </a:p>
          <a:p>
            <a:pPr>
              <a:buFont typeface="Wingdings" panose="05000000000000000000" pitchFamily="2" charset="2"/>
              <a:buChar char="q"/>
            </a:pPr>
            <a:r>
              <a:rPr lang="en-US" dirty="0"/>
              <a:t> Watch out for biases and perform fairness audits</a:t>
            </a:r>
          </a:p>
          <a:p>
            <a:pPr lvl="1">
              <a:buFont typeface="Wingdings" panose="05000000000000000000" pitchFamily="2" charset="2"/>
              <a:buChar char="§"/>
            </a:pPr>
            <a:r>
              <a:rPr lang="en-US" dirty="0"/>
              <a:t>Based on the demographic parity test conducted, it </a:t>
            </a:r>
            <a:r>
              <a:rPr lang="en-PH" dirty="0"/>
              <a:t>indicated a significant disparity in predicted cancellation rates across different cities. This disparity can be addressed by adding more data points and other mitigating measures to process data.</a:t>
            </a:r>
            <a:endParaRPr lang="en-US" dirty="0"/>
          </a:p>
          <a:p>
            <a:pPr>
              <a:buFont typeface="Wingdings" panose="05000000000000000000" pitchFamily="2" charset="2"/>
              <a:buChar char="q"/>
            </a:pPr>
            <a:r>
              <a:rPr lang="en-US" dirty="0"/>
              <a:t> Use of fairness metrics to mitigate biases</a:t>
            </a:r>
          </a:p>
          <a:p>
            <a:pPr>
              <a:buFont typeface="Wingdings" panose="05000000000000000000" pitchFamily="2" charset="2"/>
              <a:buChar char="q"/>
            </a:pPr>
            <a:r>
              <a:rPr lang="en-US" dirty="0"/>
              <a:t> Review mitigations for implementation (Reweighting and post-processing)</a:t>
            </a:r>
          </a:p>
          <a:p>
            <a:pPr>
              <a:buFont typeface="Wingdings" panose="05000000000000000000" pitchFamily="2" charset="2"/>
              <a:buChar char="q"/>
            </a:pPr>
            <a:r>
              <a:rPr lang="en-PH" dirty="0"/>
              <a:t> Ensure data privacy while collecting data, and proper management of personal data in repository</a:t>
            </a:r>
          </a:p>
        </p:txBody>
      </p:sp>
    </p:spTree>
    <p:extLst>
      <p:ext uri="{BB962C8B-B14F-4D97-AF65-F5344CB8AC3E}">
        <p14:creationId xmlns:p14="http://schemas.microsoft.com/office/powerpoint/2010/main" val="251745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27E3-0B11-CF2A-E60E-D4E5AF0D42CC}"/>
              </a:ext>
            </a:extLst>
          </p:cNvPr>
          <p:cNvSpPr>
            <a:spLocks noGrp="1"/>
          </p:cNvSpPr>
          <p:nvPr>
            <p:ph type="title"/>
          </p:nvPr>
        </p:nvSpPr>
        <p:spPr/>
        <p:txBody>
          <a:bodyPr/>
          <a:lstStyle/>
          <a:p>
            <a:r>
              <a:rPr lang="en-US" dirty="0">
                <a:solidFill>
                  <a:schemeClr val="accent1">
                    <a:lumMod val="60000"/>
                    <a:lumOff val="40000"/>
                  </a:schemeClr>
                </a:solidFill>
              </a:rPr>
              <a:t>Next Steps and ROI Projection</a:t>
            </a:r>
            <a:endParaRPr lang="en-PH"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1F7392C1-0CEE-C707-5526-19B371C8083C}"/>
              </a:ext>
            </a:extLst>
          </p:cNvPr>
          <p:cNvSpPr>
            <a:spLocks noGrp="1"/>
          </p:cNvSpPr>
          <p:nvPr>
            <p:ph idx="1"/>
          </p:nvPr>
        </p:nvSpPr>
        <p:spPr>
          <a:xfrm>
            <a:off x="1097280" y="1845734"/>
            <a:ext cx="10058400" cy="558101"/>
          </a:xfrm>
        </p:spPr>
        <p:txBody>
          <a:bodyPr/>
          <a:lstStyle/>
          <a:p>
            <a:r>
              <a:rPr lang="en-US" dirty="0"/>
              <a:t>Once interventions are already in place, calculate the following metrics to measure business KPI:</a:t>
            </a:r>
          </a:p>
          <a:p>
            <a:endParaRPr lang="en-PH" dirty="0"/>
          </a:p>
        </p:txBody>
      </p:sp>
      <p:graphicFrame>
        <p:nvGraphicFramePr>
          <p:cNvPr id="4" name="Diagram 3">
            <a:extLst>
              <a:ext uri="{FF2B5EF4-FFF2-40B4-BE49-F238E27FC236}">
                <a16:creationId xmlns:a16="http://schemas.microsoft.com/office/drawing/2014/main" id="{4A0C09BE-BAAA-C835-F18D-EFEFF747E177}"/>
              </a:ext>
            </a:extLst>
          </p:cNvPr>
          <p:cNvGraphicFramePr/>
          <p:nvPr>
            <p:extLst>
              <p:ext uri="{D42A27DB-BD31-4B8C-83A1-F6EECF244321}">
                <p14:modId xmlns:p14="http://schemas.microsoft.com/office/powerpoint/2010/main" val="1235483030"/>
              </p:ext>
            </p:extLst>
          </p:nvPr>
        </p:nvGraphicFramePr>
        <p:xfrm>
          <a:off x="1607794" y="2337847"/>
          <a:ext cx="8375192" cy="3921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45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B466A8-F038-4C10-A8CC-6EF88A2F32A6}"/>
              </a:ext>
            </a:extLst>
          </p:cNvPr>
          <p:cNvSpPr>
            <a:spLocks noGrp="1"/>
          </p:cNvSpPr>
          <p:nvPr>
            <p:ph type="title"/>
          </p:nvPr>
        </p:nvSpPr>
        <p:spPr/>
        <p:txBody>
          <a:bodyPr/>
          <a:lstStyle/>
          <a:p>
            <a:r>
              <a:rPr lang="en-US" dirty="0">
                <a:solidFill>
                  <a:schemeClr val="accent1">
                    <a:lumMod val="40000"/>
                    <a:lumOff val="60000"/>
                  </a:schemeClr>
                </a:solidFill>
              </a:rPr>
              <a:t>Thank you!</a:t>
            </a:r>
            <a:endParaRPr lang="en-PH" dirty="0">
              <a:solidFill>
                <a:schemeClr val="accent1">
                  <a:lumMod val="40000"/>
                  <a:lumOff val="60000"/>
                </a:schemeClr>
              </a:solidFill>
            </a:endParaRPr>
          </a:p>
        </p:txBody>
      </p:sp>
      <p:sp>
        <p:nvSpPr>
          <p:cNvPr id="5" name="Text Placeholder 4">
            <a:extLst>
              <a:ext uri="{FF2B5EF4-FFF2-40B4-BE49-F238E27FC236}">
                <a16:creationId xmlns:a16="http://schemas.microsoft.com/office/drawing/2014/main" id="{C76D3B65-3ACE-0831-7555-40E7C1C2785D}"/>
              </a:ext>
            </a:extLst>
          </p:cNvPr>
          <p:cNvSpPr>
            <a:spLocks noGrp="1"/>
          </p:cNvSpPr>
          <p:nvPr>
            <p:ph type="body" idx="1"/>
          </p:nvPr>
        </p:nvSpPr>
        <p:spPr/>
        <p:txBody>
          <a:bodyPr/>
          <a:lstStyle/>
          <a:p>
            <a:endParaRPr lang="en-PH"/>
          </a:p>
        </p:txBody>
      </p:sp>
    </p:spTree>
    <p:extLst>
      <p:ext uri="{BB962C8B-B14F-4D97-AF65-F5344CB8AC3E}">
        <p14:creationId xmlns:p14="http://schemas.microsoft.com/office/powerpoint/2010/main" val="2973044590"/>
      </p:ext>
    </p:extLst>
  </p:cSld>
  <p:clrMapOvr>
    <a:masterClrMapping/>
  </p:clrMapOvr>
</p:sld>
</file>

<file path=ppt/theme/theme1.xml><?xml version="1.0" encoding="utf-8"?>
<a:theme xmlns:a="http://schemas.openxmlformats.org/drawingml/2006/main" name="Retrospect">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99</TotalTime>
  <Words>813</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system-ui</vt:lpstr>
      <vt:lpstr>Wingdings</vt:lpstr>
      <vt:lpstr>Retrospect</vt:lpstr>
      <vt:lpstr>CAPSTONE PROJECT</vt:lpstr>
      <vt:lpstr>OUTLINE:</vt:lpstr>
      <vt:lpstr>Business Problem</vt:lpstr>
      <vt:lpstr>Our Approach</vt:lpstr>
      <vt:lpstr>Key Findings</vt:lpstr>
      <vt:lpstr>Results</vt:lpstr>
      <vt:lpstr>Results</vt:lpstr>
      <vt:lpstr>Recommendations </vt:lpstr>
      <vt:lpstr>Risks and Considerations</vt:lpstr>
      <vt:lpstr>Next Steps and ROI Projection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Leslie Anne Dolot</dc:creator>
  <cp:lastModifiedBy>Leslie Anne Dolot</cp:lastModifiedBy>
  <cp:revision>5</cp:revision>
  <dcterms:created xsi:type="dcterms:W3CDTF">2026-03-30T04:59:35Z</dcterms:created>
  <dcterms:modified xsi:type="dcterms:W3CDTF">2026-03-30T08:00:13Z</dcterms:modified>
</cp:coreProperties>
</file>